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0c5b94-f0f4-a804-8bb4-be27bc1ab6ab}">
          <p14:sldIdLst>
            <p14:sldId id="256"/>
          </p14:sldIdLst>
        </p14:section>
        <p14:section name="Problem" id="{a4dc8c77-9a4c-b38d-09ef-13f501d5b846}">
          <p14:sldIdLst>
            <p14:sldId id="257"/>
            <p14:sldId id="258"/>
          </p14:sldIdLst>
        </p14:section>
        <p14:section name="Solution" id="{f1859d9f-e652-79e4-636c-f195a9287c53}">
          <p14:sldIdLst>
            <p14:sldId id="259"/>
            <p14:sldId id="260"/>
            <p14:sldId id="261"/>
            <p14:sldId id="262"/>
          </p14:sldIdLst>
        </p14:section>
        <p14:section name="Model" id="{c37b54fc-1a63-f555-b8a3-8bca31e2fd8e}">
          <p14:sldIdLst>
            <p14:sldId id="263"/>
            <p14:sldId id="264"/>
            <p14:sldId id="265"/>
          </p14:sldIdLst>
        </p14:section>
        <p14:section name="Demo" id="{880bc204-5b0d-8cec-4107-b4f3adc6f417}">
          <p14:sldIdLst>
            <p14:sldId id="266"/>
            <p14:sldId id="267"/>
          </p14:sldIdLst>
        </p14:section>
        <p14:section name="Impact" id="{cd1a5970-002b-958c-4a87-023769762662}">
          <p14:sldIdLst>
            <p14:sldId id="268"/>
            <p14:sldId id="269"/>
          </p14:sldIdLst>
        </p14:section>
        <p14:section name="Close" id="{a78e611a-7297-6272-b200-f6a32885f789}">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B2D"/>
                </a:solidFill>
                <a:latin typeface="+mn-lt"/>
              </a:defRPr>
            </a:pPr>
            <a:r>
              <a:rPr sz="1400" b="0" i="0" u="none" strike="noStrike">
                <a:solidFill>
                  <a:srgbClr val="0F1B2D"/>
                </a:solidFill>
                <a:latin typeface="+mn-lt"/>
              </a:rPr>
              <a:t>Average forecast error (MAE, mg/dL, lower is better)</a:t>
            </a:r>
          </a:p>
        </c:rich>
      </c:tx>
      <c:layout/>
      <c:overlay val="0"/>
    </c:title>
    <c:autoTitleDeleted val="0"/>
    <c:plotArea>
      <c:layout/>
      <c:barChart>
        <c:barDir val="col"/>
        <c:grouping val="clustered"/>
        <c:varyColors val="0"/>
        <c:ser>
          <c:idx val="0"/>
          <c:order val="0"/>
          <c:tx>
            <c:strRef>
              <c:f>Sheet1!$B$1</c:f>
              <c:strCache>
                <c:ptCount val="1"/>
                <c:pt idx="0">
                  <c:v>60-minute error</c:v>
                </c:pt>
              </c:strCache>
            </c:strRef>
          </c:tx>
          <c:spPr>
            <a:solidFill>
              <a:srgbClr val="2563EB"/>
            </a:solidFill>
            <a:effectLst/>
          </c:spPr>
          <c:invertIfNegative val="0"/>
          <c:dLbls>
            <c:numFmt formatCode="#,##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cat>
            <c:multiLvlStrRef>
              <c:f>Sheet1!$A$2:$A$5</c:f>
              <c:multiLvlStrCache>
                <c:ptCount val="4"/>
                <c:lvl>
                  <c:pt idx="0">
                    <c:v>No change</c:v>
                  </c:pt>
                  <c:pt idx="1">
                    <c:v>Damped trend</c:v>
                  </c:pt>
                  <c:pt idx="2">
                    <c:v>Dynamic only</c:v>
                  </c:pt>
                  <c:pt idx="3">
                    <c:v>GlucoTwin fused</c:v>
                  </c:pt>
                </c:lvl>
              </c:multiLvlStrCache>
            </c:multiLvlStrRef>
          </c:cat>
          <c:val>
            <c:numRef>
              <c:f>Sheet1!$B$2:$B$5</c:f>
              <c:numCache>
                <c:formatCode>General</c:formatCode>
                <c:ptCount val="4"/>
                <c:pt idx="0">
                  <c:v>34.1</c:v>
                </c:pt>
                <c:pt idx="1">
                  <c:v>35.9</c:v>
                </c:pt>
                <c:pt idx="2">
                  <c:v>15</c:v>
                </c:pt>
                <c:pt idx="3">
                  <c:v>14.5</c:v>
                </c:pt>
              </c:numCache>
            </c:numRef>
          </c:val>
        </c:ser>
        <c:ser>
          <c:idx val="1"/>
          <c:order val="1"/>
          <c:tx>
            <c:strRef>
              <c:f>Sheet1!$C$1</c:f>
              <c:strCache>
                <c:ptCount val="1"/>
                <c:pt idx="0">
                  <c:v>120-minute error</c:v>
                </c:pt>
              </c:strCache>
            </c:strRef>
          </c:tx>
          <c:spPr>
            <a:solidFill>
              <a:srgbClr val="0D9488"/>
            </a:solidFill>
            <a:effectLst/>
          </c:spPr>
          <c:invertIfNegative val="0"/>
          <c:dLbls>
            <c:numFmt formatCode="#,##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cat>
            <c:multiLvlStrRef>
              <c:f>Sheet1!$A$2:$A$5</c:f>
              <c:multiLvlStrCache>
                <c:ptCount val="4"/>
                <c:lvl>
                  <c:pt idx="0">
                    <c:v>No change</c:v>
                  </c:pt>
                  <c:pt idx="1">
                    <c:v>Damped trend</c:v>
                  </c:pt>
                  <c:pt idx="2">
                    <c:v>Dynamic only</c:v>
                  </c:pt>
                  <c:pt idx="3">
                    <c:v>GlucoTwin fused</c:v>
                  </c:pt>
                </c:lvl>
              </c:multiLvlStrCache>
            </c:multiLvlStrRef>
          </c:cat>
          <c:val>
            <c:numRef>
              <c:f>Sheet1!$C$2:$C$5</c:f>
              <c:numCache>
                <c:formatCode>General</c:formatCode>
                <c:ptCount val="4"/>
                <c:pt idx="0">
                  <c:v>51.5</c:v>
                </c:pt>
                <c:pt idx="1">
                  <c:v>62.7</c:v>
                </c:pt>
                <c:pt idx="2">
                  <c:v>20</c:v>
                </c:pt>
                <c:pt idx="3">
                  <c:v>18.9</c:v>
                </c:pt>
              </c:numCache>
            </c:numRef>
          </c:val>
        </c:ser>
        <c:dLbls>
          <c:numFmt formatCode="#,##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B2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8E0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0:00-0:45. Greet the panel, introduce the team and one sentence: GlucoTwin AI forecasts a dangerous low-glucose event before it happens, from two fused data streams, and explains the reason. Say clearly that everything is built on synthetic, privacy-safe data and this is decision support, not a medical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0:45-2:30. Walk the three cards left to right: the patient looks fine at 105, the trend is already falling, an hour later a dangerous low. Hypoglycaemia is most risky for people with Type 2 diabetes who use insulin or sulfonylureas. Stress that existing tools show a snapshot or alarm late. Our question is early, explained, and with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2:30-4:00. Give the scale (about 101 million with diabetes, ICMR-INDIAB 2023; say it is approximate). Then the three groups: patients, doctors who only see snapshots, and the health system that pays for emergency admissions. Mention our requirements: explain every alert, show uncertainty, never advise doses, work without real patient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4:00-5:30. One sentence per step. Emphasise the difference from a normal glucose app: it looks ahead, it is patient-aware because it fuses the health record, it explains, and the what-if is recalculated by the real model, not animated.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5:30-7:00. This slide answers the brief directly. Static: demographics, diagnoses, labs and genetic markers from a synthetic EHR. Dynamic: CGM, heart rate, steps, sleep, meals and insulin. All generated, no real patients. Say that heart-rate variability and detailed sleep stages are not simulated; heart rate and a sleep flag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7:00-9:00. Trace the flow left to right: two streams, feature engineering, fusion forecaster, then explain-and-simulate and evaluation, ending in the clinician dashboard and API. Point out privacy by design: synthetic data, local inference, no external AI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9:00-10:00. Be explicit about the sandbox rules: every record here is generated. We list real open datasets as the next step and note that each licence must be checked first. Be upfront that synthetic data does not by itself make a system compliant.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10:00-12:00. Explain gradient-boosted trees in one line: many small decision trees that learn from both streams together. Stress the honest test design: whole patients are held out, baselines and an ablation are included. Mention the roadmap to LSTM or Temporal Fusion Transformer with cross-attention, which we have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12:00-14:00. Both learned models far outperform the baselines. At 60 minutes the fused model is off by about 14 mg/dL versus 34 for assuming no change. The 90 percent interval really contains about 90 percent of outcomes. These numbers come from synthetic data, so treat them as proof the pipeline works, not as clinical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14:00-16:00. Be candid; judges value honesty. The fusion gain is modest because in our simulator the EHR affects physiology only through assumed links such as kidney function slowing insulin clearance. Low detection at our chosen threshold needs improvement to reduce false alerts before any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16:00-17:30. Switch to the live dashboard here (web/index.html). Press play, let the audience watch the forecast move, then skip to the next low warning. Use this static figure as a backup if the demo fails. Point to the shaded interval, the SHAP reasons on the right, and the hypothetical what-if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17:30-19:00. Narrate the live screen recording: play, warning, drivers, what-if, then the trust panel which tells a layperson how accurate the forecast has been on unseen data. Mention the CSV upload so a clinic could try its own CGM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19:00-19:40. These were our four design requirements from the start. Each is implemented, not just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19:40-20:30. Close with the benefit: earlier warning, fewer unexpected lows, clearer reasons for clinicians and low-cost remote monitoring. State that these benefits are goals to be measured, not yet proven. Be clear that a clinical pathway needs real data, usability studies and regulatory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20:30 onward. Thank the panel and invite questions. The repository link is on the slide; mention that the README, architecture diagram and results are all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309360"/>
            <a:ext cx="12188952" cy="548640"/>
          </a:xfrm>
          <a:prstGeom prst="rect">
            <a:avLst/>
          </a:prstGeom>
          <a:solidFill>
            <a:srgbClr val="0D9488"/>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D9488"/>
          </a:solidFill>
          <a:ln/>
        </p:spPr>
      </p:sp>
      <p:sp>
        <p:nvSpPr>
          <p:cNvPr id="3" name="Text 1"/>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6677A"/>
                </a:solidFill>
              </a:rPr>
              <a:t>GlucoTwin AI  |  Team Powerpuff Girls  |  Synthetic data only, not a medical device</a:t>
            </a:r>
            <a:endParaRPr lang="en-US" sz="1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10515600" cy="365760"/>
          </a:xfrm>
          <a:prstGeom prst="rect">
            <a:avLst/>
          </a:prstGeom>
          <a:noFill/>
          <a:ln/>
        </p:spPr>
        <p:txBody>
          <a:bodyPr wrap="square" lIns="0" tIns="0" rIns="0" bIns="0" rtlCol="0" anchor="t"/>
          <a:lstStyle/>
          <a:p>
            <a:pPr indent="0" marL="0">
              <a:buNone/>
            </a:pPr>
            <a:r>
              <a:rPr lang="en-US" sz="1600" dirty="0">
                <a:solidFill>
                  <a:srgbClr val="9FB3C8"/>
                </a:solidFill>
                <a:latin typeface="Calibri" pitchFamily="34" charset="0"/>
                <a:ea typeface="Calibri" pitchFamily="34" charset="-122"/>
                <a:cs typeface="Calibri" pitchFamily="34" charset="-120"/>
              </a:rPr>
              <a:t>Happiest Health Summit 2026  |  Phase 1: Prototype and Code</a:t>
            </a:r>
            <a:endParaRPr lang="en-US" sz="1600" dirty="0"/>
          </a:p>
        </p:txBody>
      </p:sp>
      <p:sp>
        <p:nvSpPr>
          <p:cNvPr id="3" name="Text 1"/>
          <p:cNvSpPr txBox="1"/>
          <p:nvPr/>
        </p:nvSpPr>
        <p:spPr>
          <a:xfrm>
            <a:off x="731520" y="1737360"/>
            <a:ext cx="10515600" cy="1188720"/>
          </a:xfrm>
          <a:prstGeom prst="rect">
            <a:avLst/>
          </a:prstGeom>
          <a:noFill/>
          <a:ln/>
        </p:spPr>
        <p:txBody>
          <a:bodyPr wrap="square" lIns="0" tIns="0" rIns="0" bIns="0" rtlCol="0" anchor="t"/>
          <a:lstStyle/>
          <a:p>
            <a:pPr indent="0" marL="0">
              <a:buNone/>
            </a:pPr>
            <a:r>
              <a:rPr lang="en-US" sz="6600" b="1" dirty="0">
                <a:solidFill>
                  <a:srgbClr val="FFFFFF"/>
                </a:solidFill>
                <a:latin typeface="Georgia" pitchFamily="34" charset="0"/>
                <a:ea typeface="Georgia" pitchFamily="34" charset="-122"/>
                <a:cs typeface="Georgia" pitchFamily="34" charset="-120"/>
              </a:rPr>
              <a:t>GlucoTwin AI</a:t>
            </a:r>
            <a:endParaRPr lang="en-US" sz="6600" dirty="0"/>
          </a:p>
        </p:txBody>
      </p:sp>
      <p:sp>
        <p:nvSpPr>
          <p:cNvPr id="4" name="Text 2"/>
          <p:cNvSpPr txBox="1"/>
          <p:nvPr/>
        </p:nvSpPr>
        <p:spPr>
          <a:xfrm>
            <a:off x="731520" y="3108960"/>
            <a:ext cx="9601200" cy="1188720"/>
          </a:xfrm>
          <a:prstGeom prst="rect">
            <a:avLst/>
          </a:prstGeom>
          <a:noFill/>
          <a:ln/>
        </p:spPr>
        <p:txBody>
          <a:bodyPr wrap="square" lIns="0" tIns="0" rIns="0" bIns="0" rtlCol="0" anchor="t"/>
          <a:lstStyle/>
          <a:p>
            <a:pPr indent="0" marL="0">
              <a:buNone/>
            </a:pPr>
            <a:r>
              <a:rPr lang="en-US" sz="2400" dirty="0">
                <a:solidFill>
                  <a:srgbClr val="DCE7F3"/>
                </a:solidFill>
                <a:latin typeface="Calibri" pitchFamily="34" charset="0"/>
                <a:ea typeface="Calibri" pitchFamily="34" charset="-122"/>
                <a:cs typeface="Calibri" pitchFamily="34" charset="-120"/>
              </a:rPr>
              <a:t>A predictive digital twin that fuses a patient's health record with wearable glucose data to warn of a dangerous low up to 2 hours ahead, and explains why.</a:t>
            </a:r>
            <a:endParaRPr lang="en-US" sz="2400" dirty="0"/>
          </a:p>
        </p:txBody>
      </p:sp>
      <p:sp>
        <p:nvSpPr>
          <p:cNvPr id="5" name="Text 3"/>
          <p:cNvSpPr txBox="1"/>
          <p:nvPr/>
        </p:nvSpPr>
        <p:spPr>
          <a:xfrm>
            <a:off x="731520" y="4937760"/>
            <a:ext cx="100584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Team Powerpuff Girls: Anushka Aggarwal, Anshu Yadav, Aarti</a:t>
            </a:r>
            <a:endParaRPr lang="en-US" sz="1800" dirty="0"/>
          </a:p>
        </p:txBody>
      </p:sp>
      <p:sp>
        <p:nvSpPr>
          <p:cNvPr id="6" name="Text 4"/>
          <p:cNvSpPr txBox="1"/>
          <p:nvPr/>
        </p:nvSpPr>
        <p:spPr>
          <a:xfrm>
            <a:off x="731520" y="5349240"/>
            <a:ext cx="10058400" cy="365760"/>
          </a:xfrm>
          <a:prstGeom prst="rect">
            <a:avLst/>
          </a:prstGeom>
          <a:noFill/>
          <a:ln/>
        </p:spPr>
        <p:txBody>
          <a:bodyPr wrap="square" lIns="0" tIns="0" rIns="0" bIns="0" rtlCol="0" anchor="t"/>
          <a:lstStyle/>
          <a:p>
            <a:pPr indent="0" marL="0">
              <a:buNone/>
            </a:pPr>
            <a:r>
              <a:rPr lang="en-US" sz="1600" dirty="0">
                <a:solidFill>
                  <a:srgbClr val="9FB3C8"/>
                </a:solidFill>
                <a:latin typeface="Calibri" pitchFamily="34" charset="0"/>
                <a:ea typeface="Calibri" pitchFamily="34" charset="-122"/>
                <a:cs typeface="Calibri" pitchFamily="34" charset="-120"/>
              </a:rPr>
              <a:t>Indira Gandhi Delhi Technological University for Women (IGDTUW)</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A normal reading can hide a low that is coming</a:t>
            </a:r>
            <a:endParaRPr lang="en-US" sz="3000" dirty="0"/>
          </a:p>
        </p:txBody>
      </p:sp>
      <p:sp>
        <p:nvSpPr>
          <p:cNvPr id="3" name="now card"/>
          <p:cNvSpPr/>
          <p:nvPr/>
        </p:nvSpPr>
        <p:spPr>
          <a:xfrm>
            <a:off x="548640" y="1463040"/>
            <a:ext cx="3474720" cy="2651760"/>
          </a:xfrm>
          <a:prstGeom prst="roundRect">
            <a:avLst>
              <a:gd name="adj" fmla="val 4138"/>
            </a:avLst>
          </a:prstGeom>
          <a:solidFill>
            <a:srgbClr val="F2F5FA"/>
          </a:solidFill>
          <a:ln w="12700">
            <a:solidFill>
              <a:srgbClr val="D8E0E8"/>
            </a:solidFill>
            <a:prstDash val="solid"/>
          </a:ln>
        </p:spPr>
      </p:sp>
      <p:sp>
        <p:nvSpPr>
          <p:cNvPr id="4" name="now accent"/>
          <p:cNvSpPr/>
          <p:nvPr/>
        </p:nvSpPr>
        <p:spPr>
          <a:xfrm>
            <a:off x="548640" y="1691640"/>
            <a:ext cx="64008" cy="2194560"/>
          </a:xfrm>
          <a:prstGeom prst="rect">
            <a:avLst/>
          </a:prstGeom>
          <a:solidFill>
            <a:srgbClr val="16915C"/>
          </a:solidFill>
          <a:ln w="12700">
            <a:solidFill>
              <a:srgbClr val="16915C"/>
            </a:solidFill>
            <a:prstDash val="solid"/>
          </a:ln>
        </p:spPr>
      </p:sp>
      <p:sp>
        <p:nvSpPr>
          <p:cNvPr id="5" name="Text 3"/>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1800" b="1" dirty="0">
                <a:solidFill>
                  <a:srgbClr val="16915C"/>
                </a:solidFill>
                <a:latin typeface="Georgia" pitchFamily="34" charset="0"/>
                <a:ea typeface="Georgia" pitchFamily="34" charset="-122"/>
                <a:cs typeface="Georgia" pitchFamily="34" charset="-120"/>
              </a:rPr>
              <a:t>Now: 105 mg/dL</a:t>
            </a:r>
            <a:endParaRPr lang="en-US" sz="1800" dirty="0"/>
          </a:p>
        </p:txBody>
      </p:sp>
      <p:sp>
        <p:nvSpPr>
          <p:cNvPr id="6" name="Text 4"/>
          <p:cNvSpPr txBox="1"/>
          <p:nvPr/>
        </p:nvSpPr>
        <p:spPr>
          <a:xfrm>
            <a:off x="822960" y="2148840"/>
            <a:ext cx="3017520" cy="182880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The app shows a normal value. Nothing looks wrong.</a:t>
            </a:r>
            <a:endParaRPr lang="en-US" sz="1500" dirty="0"/>
          </a:p>
        </p:txBody>
      </p:sp>
      <p:sp>
        <p:nvSpPr>
          <p:cNvPr id="7" name="next card"/>
          <p:cNvSpPr/>
          <p:nvPr/>
        </p:nvSpPr>
        <p:spPr>
          <a:xfrm>
            <a:off x="4343400" y="1463040"/>
            <a:ext cx="3474720" cy="2651760"/>
          </a:xfrm>
          <a:prstGeom prst="roundRect">
            <a:avLst>
              <a:gd name="adj" fmla="val 4138"/>
            </a:avLst>
          </a:prstGeom>
          <a:solidFill>
            <a:srgbClr val="F2F5FA"/>
          </a:solidFill>
          <a:ln w="12700">
            <a:solidFill>
              <a:srgbClr val="D8E0E8"/>
            </a:solidFill>
            <a:prstDash val="solid"/>
          </a:ln>
        </p:spPr>
      </p:sp>
      <p:sp>
        <p:nvSpPr>
          <p:cNvPr id="8" name="next accent"/>
          <p:cNvSpPr/>
          <p:nvPr/>
        </p:nvSpPr>
        <p:spPr>
          <a:xfrm>
            <a:off x="4343400" y="1691640"/>
            <a:ext cx="64008" cy="2194560"/>
          </a:xfrm>
          <a:prstGeom prst="rect">
            <a:avLst/>
          </a:prstGeom>
          <a:solidFill>
            <a:srgbClr val="D97706"/>
          </a:solidFill>
          <a:ln w="12700">
            <a:solidFill>
              <a:srgbClr val="D97706"/>
            </a:solidFill>
            <a:prstDash val="solid"/>
          </a:ln>
        </p:spPr>
      </p:sp>
      <p:sp>
        <p:nvSpPr>
          <p:cNvPr id="9" name="Text 7"/>
          <p:cNvSpPr txBox="1"/>
          <p:nvPr/>
        </p:nvSpPr>
        <p:spPr>
          <a:xfrm>
            <a:off x="4617720" y="1645920"/>
            <a:ext cx="3017520" cy="457200"/>
          </a:xfrm>
          <a:prstGeom prst="rect">
            <a:avLst/>
          </a:prstGeom>
          <a:noFill/>
          <a:ln/>
        </p:spPr>
        <p:txBody>
          <a:bodyPr wrap="square" lIns="0" tIns="0" rIns="0" bIns="0" rtlCol="0" anchor="t"/>
          <a:lstStyle/>
          <a:p>
            <a:pPr indent="0" marL="0">
              <a:buNone/>
            </a:pPr>
            <a:r>
              <a:rPr lang="en-US" sz="1800" b="1" dirty="0">
                <a:solidFill>
                  <a:srgbClr val="D97706"/>
                </a:solidFill>
                <a:latin typeface="Georgia" pitchFamily="34" charset="0"/>
                <a:ea typeface="Georgia" pitchFamily="34" charset="-122"/>
                <a:cs typeface="Georgia" pitchFamily="34" charset="-120"/>
              </a:rPr>
              <a:t>Next 30 to 60 minutes</a:t>
            </a:r>
            <a:endParaRPr lang="en-US" sz="1800" dirty="0"/>
          </a:p>
        </p:txBody>
      </p:sp>
      <p:sp>
        <p:nvSpPr>
          <p:cNvPr id="10" name="Text 8"/>
          <p:cNvSpPr txBox="1"/>
          <p:nvPr/>
        </p:nvSpPr>
        <p:spPr>
          <a:xfrm>
            <a:off x="4617720" y="2148840"/>
            <a:ext cx="3017520" cy="182880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The trend is falling fast. A recent meal, insulin and activity add downward pressure.</a:t>
            </a:r>
            <a:endParaRPr lang="en-US" sz="1500" dirty="0"/>
          </a:p>
        </p:txBody>
      </p:sp>
      <p:sp>
        <p:nvSpPr>
          <p:cNvPr id="11" name="later card"/>
          <p:cNvSpPr/>
          <p:nvPr/>
        </p:nvSpPr>
        <p:spPr>
          <a:xfrm>
            <a:off x="8138160" y="1463040"/>
            <a:ext cx="3474720" cy="2651760"/>
          </a:xfrm>
          <a:prstGeom prst="roundRect">
            <a:avLst>
              <a:gd name="adj" fmla="val 4138"/>
            </a:avLst>
          </a:prstGeom>
          <a:solidFill>
            <a:srgbClr val="F2F5FA"/>
          </a:solidFill>
          <a:ln w="12700">
            <a:solidFill>
              <a:srgbClr val="D8E0E8"/>
            </a:solidFill>
            <a:prstDash val="solid"/>
          </a:ln>
        </p:spPr>
      </p:sp>
      <p:sp>
        <p:nvSpPr>
          <p:cNvPr id="12" name="later accent"/>
          <p:cNvSpPr/>
          <p:nvPr/>
        </p:nvSpPr>
        <p:spPr>
          <a:xfrm>
            <a:off x="8138160" y="1691640"/>
            <a:ext cx="64008" cy="2194560"/>
          </a:xfrm>
          <a:prstGeom prst="rect">
            <a:avLst/>
          </a:prstGeom>
          <a:solidFill>
            <a:srgbClr val="DC2626"/>
          </a:solidFill>
          <a:ln w="12700">
            <a:solidFill>
              <a:srgbClr val="DC2626"/>
            </a:solidFill>
            <a:prstDash val="solid"/>
          </a:ln>
        </p:spPr>
      </p:sp>
      <p:sp>
        <p:nvSpPr>
          <p:cNvPr id="13" name="Text 11"/>
          <p:cNvSpPr txBox="1"/>
          <p:nvPr/>
        </p:nvSpPr>
        <p:spPr>
          <a:xfrm>
            <a:off x="8412480" y="1645920"/>
            <a:ext cx="3017520" cy="457200"/>
          </a:xfrm>
          <a:prstGeom prst="rect">
            <a:avLst/>
          </a:prstGeom>
          <a:noFill/>
          <a:ln/>
        </p:spPr>
        <p:txBody>
          <a:bodyPr wrap="square" lIns="0" tIns="0" rIns="0" bIns="0" rtlCol="0" anchor="t"/>
          <a:lstStyle/>
          <a:p>
            <a:pPr indent="0" marL="0">
              <a:buNone/>
            </a:pPr>
            <a:r>
              <a:rPr lang="en-US" sz="1800" b="1" dirty="0">
                <a:solidFill>
                  <a:srgbClr val="DC2626"/>
                </a:solidFill>
                <a:latin typeface="Georgia" pitchFamily="34" charset="0"/>
                <a:ea typeface="Georgia" pitchFamily="34" charset="-122"/>
                <a:cs typeface="Georgia" pitchFamily="34" charset="-120"/>
              </a:rPr>
              <a:t>An hour later: below 70</a:t>
            </a:r>
            <a:endParaRPr lang="en-US" sz="1800" dirty="0"/>
          </a:p>
        </p:txBody>
      </p:sp>
      <p:sp>
        <p:nvSpPr>
          <p:cNvPr id="14" name="Text 12"/>
          <p:cNvSpPr txBox="1"/>
          <p:nvPr/>
        </p:nvSpPr>
        <p:spPr>
          <a:xfrm>
            <a:off x="8412480" y="2148840"/>
            <a:ext cx="3017520" cy="182880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Shakiness, confusion, falls, in severe cases seizures. Nobody was warned.</a:t>
            </a:r>
            <a:endParaRPr lang="en-US" sz="1500" dirty="0"/>
          </a:p>
        </p:txBody>
      </p:sp>
      <p:sp>
        <p:nvSpPr>
          <p:cNvPr id="15" name="Text 13"/>
          <p:cNvSpPr txBox="1"/>
          <p:nvPr/>
        </p:nvSpPr>
        <p:spPr>
          <a:xfrm>
            <a:off x="548640" y="4480560"/>
            <a:ext cx="11064240" cy="822960"/>
          </a:xfrm>
          <a:prstGeom prst="rect">
            <a:avLst/>
          </a:prstGeom>
          <a:noFill/>
          <a:ln/>
        </p:spPr>
        <p:txBody>
          <a:bodyPr wrap="square" lIns="0" tIns="0" rIns="0" bIns="0" rtlCol="0" anchor="t"/>
          <a:lstStyle/>
          <a:p>
            <a:pPr indent="0" marL="0">
              <a:buNone/>
            </a:pPr>
            <a:r>
              <a:rPr lang="en-US" sz="1800" dirty="0">
                <a:solidFill>
                  <a:srgbClr val="56677A"/>
                </a:solidFill>
                <a:latin typeface="Calibri" pitchFamily="34" charset="0"/>
                <a:ea typeface="Calibri" pitchFamily="34" charset="-122"/>
                <a:cs typeface="Calibri" pitchFamily="34" charset="-120"/>
              </a:rPr>
              <a:t>Illustrative example. Today's tools mostly show the current reading, or alarm after a threshold is crossed. They rarely say what happens next, or why.</a:t>
            </a:r>
            <a:endParaRPr lang="en-US" sz="1800" dirty="0"/>
          </a:p>
        </p:txBody>
      </p:sp>
      <p:sp>
        <p:nvSpPr>
          <p:cNvPr id="16" name="Text 14"/>
          <p:cNvSpPr txBox="1"/>
          <p:nvPr/>
        </p:nvSpPr>
        <p:spPr>
          <a:xfrm>
            <a:off x="548640" y="5303520"/>
            <a:ext cx="11064240" cy="731520"/>
          </a:xfrm>
          <a:prstGeom prst="rect">
            <a:avLst/>
          </a:prstGeom>
          <a:noFill/>
          <a:ln/>
        </p:spPr>
        <p:txBody>
          <a:bodyPr wrap="square" lIns="0" tIns="0" rIns="0" bIns="0" rtlCol="0" anchor="t"/>
          <a:lstStyle/>
          <a:p>
            <a:pPr indent="0" marL="0">
              <a:buNone/>
            </a:pPr>
            <a:r>
              <a:rPr lang="en-US" sz="2000" b="1" dirty="0">
                <a:solidFill>
                  <a:srgbClr val="0F1B2D"/>
                </a:solidFill>
                <a:latin typeface="Calibri" pitchFamily="34" charset="0"/>
                <a:ea typeface="Calibri" pitchFamily="34" charset="-122"/>
                <a:cs typeface="Calibri" pitchFamily="34" charset="-120"/>
              </a:rPr>
              <a:t>Our question: can we warn early, explain the reason, and show how sure we are, so the warning can be trusted?</a:t>
            </a:r>
            <a:endParaRPr lang="en-US" sz="2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Who needs this, and why it matters in India</a:t>
            </a:r>
            <a:endParaRPr lang="en-US" sz="3000" dirty="0"/>
          </a:p>
        </p:txBody>
      </p:sp>
      <p:sp>
        <p:nvSpPr>
          <p:cNvPr id="3" name="Text 1"/>
          <p:cNvSpPr txBox="1"/>
          <p:nvPr/>
        </p:nvSpPr>
        <p:spPr>
          <a:xfrm>
            <a:off x="548640" y="1463040"/>
            <a:ext cx="4114800" cy="822960"/>
          </a:xfrm>
          <a:prstGeom prst="rect">
            <a:avLst/>
          </a:prstGeom>
          <a:noFill/>
          <a:ln/>
        </p:spPr>
        <p:txBody>
          <a:bodyPr wrap="square" lIns="0" tIns="0" rIns="0" bIns="0" rtlCol="0" anchor="t"/>
          <a:lstStyle/>
          <a:p>
            <a:pPr indent="0" marL="0">
              <a:buNone/>
            </a:pPr>
            <a:r>
              <a:rPr lang="en-US" sz="4000" b="1" dirty="0">
                <a:solidFill>
                  <a:srgbClr val="0D9488"/>
                </a:solidFill>
                <a:latin typeface="Georgia" pitchFamily="34" charset="0"/>
                <a:ea typeface="Georgia" pitchFamily="34" charset="-122"/>
                <a:cs typeface="Georgia" pitchFamily="34" charset="-120"/>
              </a:rPr>
              <a:t>~101 million</a:t>
            </a:r>
            <a:endParaRPr lang="en-US" sz="4000" dirty="0"/>
          </a:p>
        </p:txBody>
      </p:sp>
      <p:sp>
        <p:nvSpPr>
          <p:cNvPr id="4" name="Text 2"/>
          <p:cNvSpPr txBox="1"/>
          <p:nvPr/>
        </p:nvSpPr>
        <p:spPr>
          <a:xfrm>
            <a:off x="548640" y="2377440"/>
            <a:ext cx="3931920" cy="1188720"/>
          </a:xfrm>
          <a:prstGeom prst="rect">
            <a:avLst/>
          </a:prstGeom>
          <a:noFill/>
          <a:ln/>
        </p:spPr>
        <p:txBody>
          <a:bodyPr wrap="square" lIns="0" tIns="0" rIns="0" bIns="0" rtlCol="0" anchor="t"/>
          <a:lstStyle/>
          <a:p>
            <a:pPr indent="0" marL="0">
              <a:buNone/>
            </a:pPr>
            <a:r>
              <a:rPr lang="en-US" sz="1600" dirty="0">
                <a:solidFill>
                  <a:srgbClr val="56677A"/>
                </a:solidFill>
                <a:latin typeface="Calibri" pitchFamily="34" charset="0"/>
                <a:ea typeface="Calibri" pitchFamily="34" charset="-122"/>
                <a:cs typeface="Calibri" pitchFamily="34" charset="-120"/>
              </a:rPr>
              <a:t>people with diabetes in India (ICMR-INDIAB 2023). Approximate figure; verify before citing.</a:t>
            </a:r>
            <a:endParaRPr lang="en-US" sz="1600" dirty="0"/>
          </a:p>
        </p:txBody>
      </p:sp>
      <p:sp>
        <p:nvSpPr>
          <p:cNvPr id="5" name="pat card"/>
          <p:cNvSpPr/>
          <p:nvPr/>
        </p:nvSpPr>
        <p:spPr>
          <a:xfrm>
            <a:off x="4754880" y="1371600"/>
            <a:ext cx="3291840" cy="2194560"/>
          </a:xfrm>
          <a:prstGeom prst="roundRect">
            <a:avLst>
              <a:gd name="adj" fmla="val 5000"/>
            </a:avLst>
          </a:prstGeom>
          <a:solidFill>
            <a:srgbClr val="F2F5FA"/>
          </a:solidFill>
          <a:ln w="12700">
            <a:solidFill>
              <a:srgbClr val="D8E0E8"/>
            </a:solidFill>
            <a:prstDash val="solid"/>
          </a:ln>
        </p:spPr>
      </p:sp>
      <p:sp>
        <p:nvSpPr>
          <p:cNvPr id="6" name="pat accent"/>
          <p:cNvSpPr/>
          <p:nvPr/>
        </p:nvSpPr>
        <p:spPr>
          <a:xfrm>
            <a:off x="4754880" y="1600200"/>
            <a:ext cx="64008" cy="1737360"/>
          </a:xfrm>
          <a:prstGeom prst="rect">
            <a:avLst/>
          </a:prstGeom>
          <a:solidFill>
            <a:srgbClr val="2563EB"/>
          </a:solidFill>
          <a:ln w="12700">
            <a:solidFill>
              <a:srgbClr val="2563EB"/>
            </a:solidFill>
            <a:prstDash val="solid"/>
          </a:ln>
        </p:spPr>
      </p:sp>
      <p:sp>
        <p:nvSpPr>
          <p:cNvPr id="7" name="Text 5"/>
          <p:cNvSpPr txBox="1"/>
          <p:nvPr/>
        </p:nvSpPr>
        <p:spPr>
          <a:xfrm>
            <a:off x="5029200" y="1554480"/>
            <a:ext cx="2834640" cy="457200"/>
          </a:xfrm>
          <a:prstGeom prst="rect">
            <a:avLst/>
          </a:prstGeom>
          <a:noFill/>
          <a:ln/>
        </p:spPr>
        <p:txBody>
          <a:bodyPr wrap="square" lIns="0" tIns="0" rIns="0" bIns="0" rtlCol="0" anchor="t"/>
          <a:lstStyle/>
          <a:p>
            <a:pPr indent="0" marL="0">
              <a:buNone/>
            </a:pPr>
            <a:r>
              <a:rPr lang="en-US" sz="1800" b="1" dirty="0">
                <a:solidFill>
                  <a:srgbClr val="2563EB"/>
                </a:solidFill>
                <a:latin typeface="Georgia" pitchFamily="34" charset="0"/>
                <a:ea typeface="Georgia" pitchFamily="34" charset="-122"/>
                <a:cs typeface="Georgia" pitchFamily="34" charset="-120"/>
              </a:rPr>
              <a:t>Patients</a:t>
            </a:r>
            <a:endParaRPr lang="en-US" sz="1800" dirty="0"/>
          </a:p>
        </p:txBody>
      </p:sp>
      <p:sp>
        <p:nvSpPr>
          <p:cNvPr id="8" name="Text 6"/>
          <p:cNvSpPr txBox="1"/>
          <p:nvPr/>
        </p:nvSpPr>
        <p:spPr>
          <a:xfrm>
            <a:off x="5029200" y="2057400"/>
            <a:ext cx="2834640" cy="137160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Insulin or sulfonylurea users, older adults, people living alone. Night-time and post-meal lows go unnoticed.</a:t>
            </a:r>
            <a:endParaRPr lang="en-US" sz="1500" dirty="0"/>
          </a:p>
        </p:txBody>
      </p:sp>
      <p:sp>
        <p:nvSpPr>
          <p:cNvPr id="9" name="doc card"/>
          <p:cNvSpPr/>
          <p:nvPr/>
        </p:nvSpPr>
        <p:spPr>
          <a:xfrm>
            <a:off x="8321040" y="1371600"/>
            <a:ext cx="3291840" cy="2194560"/>
          </a:xfrm>
          <a:prstGeom prst="roundRect">
            <a:avLst>
              <a:gd name="adj" fmla="val 5000"/>
            </a:avLst>
          </a:prstGeom>
          <a:solidFill>
            <a:srgbClr val="F2F5FA"/>
          </a:solidFill>
          <a:ln w="12700">
            <a:solidFill>
              <a:srgbClr val="D8E0E8"/>
            </a:solidFill>
            <a:prstDash val="solid"/>
          </a:ln>
        </p:spPr>
      </p:sp>
      <p:sp>
        <p:nvSpPr>
          <p:cNvPr id="10" name="doc accent"/>
          <p:cNvSpPr/>
          <p:nvPr/>
        </p:nvSpPr>
        <p:spPr>
          <a:xfrm>
            <a:off x="8321040" y="1600200"/>
            <a:ext cx="64008" cy="1737360"/>
          </a:xfrm>
          <a:prstGeom prst="rect">
            <a:avLst/>
          </a:prstGeom>
          <a:solidFill>
            <a:srgbClr val="7C3AED"/>
          </a:solidFill>
          <a:ln w="12700">
            <a:solidFill>
              <a:srgbClr val="7C3AED"/>
            </a:solidFill>
            <a:prstDash val="solid"/>
          </a:ln>
        </p:spPr>
      </p:sp>
      <p:sp>
        <p:nvSpPr>
          <p:cNvPr id="11" name="Text 9"/>
          <p:cNvSpPr txBox="1"/>
          <p:nvPr/>
        </p:nvSpPr>
        <p:spPr>
          <a:xfrm>
            <a:off x="8595360" y="1554480"/>
            <a:ext cx="2834640" cy="457200"/>
          </a:xfrm>
          <a:prstGeom prst="rect">
            <a:avLst/>
          </a:prstGeom>
          <a:noFill/>
          <a:ln/>
        </p:spPr>
        <p:txBody>
          <a:bodyPr wrap="square" lIns="0" tIns="0" rIns="0" bIns="0" rtlCol="0" anchor="t"/>
          <a:lstStyle/>
          <a:p>
            <a:pPr indent="0" marL="0">
              <a:buNone/>
            </a:pPr>
            <a:r>
              <a:rPr lang="en-US" sz="1800" b="1" dirty="0">
                <a:solidFill>
                  <a:srgbClr val="7C3AED"/>
                </a:solidFill>
                <a:latin typeface="Georgia" pitchFamily="34" charset="0"/>
                <a:ea typeface="Georgia" pitchFamily="34" charset="-122"/>
                <a:cs typeface="Georgia" pitchFamily="34" charset="-120"/>
              </a:rPr>
              <a:t>Doctors</a:t>
            </a:r>
            <a:endParaRPr lang="en-US" sz="1800" dirty="0"/>
          </a:p>
        </p:txBody>
      </p:sp>
      <p:sp>
        <p:nvSpPr>
          <p:cNvPr id="12" name="Text 10"/>
          <p:cNvSpPr txBox="1"/>
          <p:nvPr/>
        </p:nvSpPr>
        <p:spPr>
          <a:xfrm>
            <a:off x="8595360" y="2057400"/>
            <a:ext cx="2834640" cy="137160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See snapshots between visits. Need explainable decision support, not a black box.</a:t>
            </a:r>
            <a:endParaRPr lang="en-US" sz="1500" dirty="0"/>
          </a:p>
        </p:txBody>
      </p:sp>
      <p:sp>
        <p:nvSpPr>
          <p:cNvPr id="13" name="sys card"/>
          <p:cNvSpPr/>
          <p:nvPr/>
        </p:nvSpPr>
        <p:spPr>
          <a:xfrm>
            <a:off x="4754880" y="3840480"/>
            <a:ext cx="6858000" cy="1920240"/>
          </a:xfrm>
          <a:prstGeom prst="roundRect">
            <a:avLst>
              <a:gd name="adj" fmla="val 5714"/>
            </a:avLst>
          </a:prstGeom>
          <a:solidFill>
            <a:srgbClr val="F2F5FA"/>
          </a:solidFill>
          <a:ln w="12700">
            <a:solidFill>
              <a:srgbClr val="D8E0E8"/>
            </a:solidFill>
            <a:prstDash val="solid"/>
          </a:ln>
        </p:spPr>
      </p:sp>
      <p:sp>
        <p:nvSpPr>
          <p:cNvPr id="14" name="sys accent"/>
          <p:cNvSpPr/>
          <p:nvPr/>
        </p:nvSpPr>
        <p:spPr>
          <a:xfrm>
            <a:off x="4754880" y="4069080"/>
            <a:ext cx="64008" cy="1463040"/>
          </a:xfrm>
          <a:prstGeom prst="rect">
            <a:avLst/>
          </a:prstGeom>
          <a:solidFill>
            <a:srgbClr val="D97706"/>
          </a:solidFill>
          <a:ln w="12700">
            <a:solidFill>
              <a:srgbClr val="D97706"/>
            </a:solidFill>
            <a:prstDash val="solid"/>
          </a:ln>
        </p:spPr>
      </p:sp>
      <p:sp>
        <p:nvSpPr>
          <p:cNvPr id="15" name="Text 13"/>
          <p:cNvSpPr txBox="1"/>
          <p:nvPr/>
        </p:nvSpPr>
        <p:spPr>
          <a:xfrm>
            <a:off x="5029200" y="4023360"/>
            <a:ext cx="6400800" cy="457200"/>
          </a:xfrm>
          <a:prstGeom prst="rect">
            <a:avLst/>
          </a:prstGeom>
          <a:noFill/>
          <a:ln/>
        </p:spPr>
        <p:txBody>
          <a:bodyPr wrap="square" lIns="0" tIns="0" rIns="0" bIns="0" rtlCol="0" anchor="t"/>
          <a:lstStyle/>
          <a:p>
            <a:pPr indent="0" marL="0">
              <a:buNone/>
            </a:pPr>
            <a:r>
              <a:rPr lang="en-US" sz="1800" b="1" dirty="0">
                <a:solidFill>
                  <a:srgbClr val="D97706"/>
                </a:solidFill>
                <a:latin typeface="Georgia" pitchFamily="34" charset="0"/>
                <a:ea typeface="Georgia" pitchFamily="34" charset="-122"/>
                <a:cs typeface="Georgia" pitchFamily="34" charset="-120"/>
              </a:rPr>
              <a:t>Health system</a:t>
            </a:r>
            <a:endParaRPr lang="en-US" sz="1800" dirty="0"/>
          </a:p>
        </p:txBody>
      </p:sp>
      <p:sp>
        <p:nvSpPr>
          <p:cNvPr id="16" name="Text 14"/>
          <p:cNvSpPr txBox="1"/>
          <p:nvPr/>
        </p:nvSpPr>
        <p:spPr>
          <a:xfrm>
            <a:off x="5029200" y="4526280"/>
            <a:ext cx="6400800" cy="109728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Severe lows cause emergency visits and admissions. Primary centres with limited specialist access need remote, early, low-cost monitoring.</a:t>
            </a:r>
            <a:endParaRPr lang="en-US" sz="1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Collect, understand, predict, explain, act</a:t>
            </a:r>
            <a:endParaRPr lang="en-US" sz="3000" dirty="0"/>
          </a:p>
        </p:txBody>
      </p:sp>
      <p:sp>
        <p:nvSpPr>
          <p:cNvPr id="3" name="step Collect"/>
          <p:cNvSpPr/>
          <p:nvPr/>
        </p:nvSpPr>
        <p:spPr>
          <a:xfrm>
            <a:off x="548640" y="1554480"/>
            <a:ext cx="2103120" cy="2926080"/>
          </a:xfrm>
          <a:prstGeom prst="roundRect">
            <a:avLst>
              <a:gd name="adj" fmla="val 5217"/>
            </a:avLst>
          </a:prstGeom>
          <a:solidFill>
            <a:srgbClr val="F2F5FA"/>
          </a:solidFill>
          <a:ln w="25400">
            <a:solidFill>
              <a:srgbClr val="2563EB"/>
            </a:solidFill>
            <a:prstDash val="solid"/>
          </a:ln>
        </p:spPr>
      </p:sp>
      <p:sp>
        <p:nvSpPr>
          <p:cNvPr id="4" name="Text 2"/>
          <p:cNvSpPr txBox="1"/>
          <p:nvPr/>
        </p:nvSpPr>
        <p:spPr>
          <a:xfrm>
            <a:off x="731520" y="1691640"/>
            <a:ext cx="548640" cy="548640"/>
          </a:xfrm>
          <a:prstGeom prst="rect">
            <a:avLst/>
          </a:prstGeom>
          <a:noFill/>
          <a:ln/>
        </p:spPr>
        <p:txBody>
          <a:bodyPr wrap="square" lIns="0" tIns="0" rIns="0" bIns="0" rtlCol="0" anchor="t"/>
          <a:lstStyle/>
          <a:p>
            <a:pPr indent="0" marL="0">
              <a:buNone/>
            </a:pPr>
            <a:r>
              <a:rPr lang="en-US" sz="2800" b="1" dirty="0">
                <a:solidFill>
                  <a:srgbClr val="2563EB"/>
                </a:solidFill>
                <a:latin typeface="Georgia" pitchFamily="34" charset="0"/>
                <a:ea typeface="Georgia" pitchFamily="34" charset="-122"/>
                <a:cs typeface="Georgia" pitchFamily="34" charset="-120"/>
              </a:rPr>
              <a:t>1</a:t>
            </a:r>
            <a:endParaRPr lang="en-US" sz="2800" dirty="0"/>
          </a:p>
        </p:txBody>
      </p:sp>
      <p:sp>
        <p:nvSpPr>
          <p:cNvPr id="5" name="Text 3"/>
          <p:cNvSpPr txBox="1"/>
          <p:nvPr/>
        </p:nvSpPr>
        <p:spPr>
          <a:xfrm>
            <a:off x="731520" y="2286000"/>
            <a:ext cx="1783080" cy="457200"/>
          </a:xfrm>
          <a:prstGeom prst="rect">
            <a:avLst/>
          </a:prstGeom>
          <a:noFill/>
          <a:ln/>
        </p:spPr>
        <p:txBody>
          <a:bodyPr wrap="square" lIns="0" tIns="0" rIns="0" bIns="0" rtlCol="0" anchor="t"/>
          <a:lstStyle/>
          <a:p>
            <a:pPr indent="0" marL="0">
              <a:buNone/>
            </a:pPr>
            <a:r>
              <a:rPr lang="en-US" sz="2000" b="1" dirty="0">
                <a:solidFill>
                  <a:srgbClr val="2563EB"/>
                </a:solidFill>
                <a:latin typeface="Georgia" pitchFamily="34" charset="0"/>
                <a:ea typeface="Georgia" pitchFamily="34" charset="-122"/>
                <a:cs typeface="Georgia" pitchFamily="34" charset="-120"/>
              </a:rPr>
              <a:t>Collect</a:t>
            </a:r>
            <a:endParaRPr lang="en-US" sz="2000" dirty="0"/>
          </a:p>
        </p:txBody>
      </p:sp>
      <p:sp>
        <p:nvSpPr>
          <p:cNvPr id="6" name="Text 4"/>
          <p:cNvSpPr txBox="1"/>
          <p:nvPr/>
        </p:nvSpPr>
        <p:spPr>
          <a:xfrm>
            <a:off x="731520" y="2834640"/>
            <a:ext cx="1783080" cy="1554480"/>
          </a:xfrm>
          <a:prstGeom prst="rect">
            <a:avLst/>
          </a:prstGeom>
          <a:noFill/>
          <a:ln/>
        </p:spPr>
        <p:txBody>
          <a:bodyPr wrap="square" lIns="0" tIns="0" rIns="0" bIns="0" rtlCol="0" anchor="t"/>
          <a:lstStyle/>
          <a:p>
            <a:pPr indent="0" marL="0">
              <a:buNone/>
            </a:pPr>
            <a:r>
              <a:rPr lang="en-US" sz="1400" dirty="0">
                <a:solidFill>
                  <a:srgbClr val="0F1B2D"/>
                </a:solidFill>
                <a:latin typeface="Calibri" pitchFamily="34" charset="0"/>
                <a:ea typeface="Calibri" pitchFamily="34" charset="-122"/>
                <a:cs typeface="Calibri" pitchFamily="34" charset="-120"/>
              </a:rPr>
              <a:t>EHR profile plus wearable glucose, meals, insulin, activity</a:t>
            </a:r>
            <a:endParaRPr lang="en-US" sz="1400" dirty="0"/>
          </a:p>
        </p:txBody>
      </p:sp>
      <p:sp>
        <p:nvSpPr>
          <p:cNvPr id="7" name="step Understand"/>
          <p:cNvSpPr/>
          <p:nvPr/>
        </p:nvSpPr>
        <p:spPr>
          <a:xfrm>
            <a:off x="2798064" y="1554480"/>
            <a:ext cx="2103120" cy="2926080"/>
          </a:xfrm>
          <a:prstGeom prst="roundRect">
            <a:avLst>
              <a:gd name="adj" fmla="val 5217"/>
            </a:avLst>
          </a:prstGeom>
          <a:solidFill>
            <a:srgbClr val="F2F5FA"/>
          </a:solidFill>
          <a:ln w="25400">
            <a:solidFill>
              <a:srgbClr val="0D9488"/>
            </a:solidFill>
            <a:prstDash val="solid"/>
          </a:ln>
        </p:spPr>
      </p:sp>
      <p:sp>
        <p:nvSpPr>
          <p:cNvPr id="8" name="Text 6"/>
          <p:cNvSpPr txBox="1"/>
          <p:nvPr/>
        </p:nvSpPr>
        <p:spPr>
          <a:xfrm>
            <a:off x="2980944" y="1691640"/>
            <a:ext cx="548640" cy="548640"/>
          </a:xfrm>
          <a:prstGeom prst="rect">
            <a:avLst/>
          </a:prstGeom>
          <a:noFill/>
          <a:ln/>
        </p:spPr>
        <p:txBody>
          <a:bodyPr wrap="square" lIns="0" tIns="0" rIns="0" bIns="0" rtlCol="0" anchor="t"/>
          <a:lstStyle/>
          <a:p>
            <a:pPr indent="0" marL="0">
              <a:buNone/>
            </a:pPr>
            <a:r>
              <a:rPr lang="en-US" sz="2800" b="1" dirty="0">
                <a:solidFill>
                  <a:srgbClr val="0D9488"/>
                </a:solidFill>
                <a:latin typeface="Georgia" pitchFamily="34" charset="0"/>
                <a:ea typeface="Georgia" pitchFamily="34" charset="-122"/>
                <a:cs typeface="Georgia" pitchFamily="34" charset="-120"/>
              </a:rPr>
              <a:t>2</a:t>
            </a:r>
            <a:endParaRPr lang="en-US" sz="2800" dirty="0"/>
          </a:p>
        </p:txBody>
      </p:sp>
      <p:sp>
        <p:nvSpPr>
          <p:cNvPr id="9" name="Text 7"/>
          <p:cNvSpPr txBox="1"/>
          <p:nvPr/>
        </p:nvSpPr>
        <p:spPr>
          <a:xfrm>
            <a:off x="2980944" y="2286000"/>
            <a:ext cx="1783080" cy="457200"/>
          </a:xfrm>
          <a:prstGeom prst="rect">
            <a:avLst/>
          </a:prstGeom>
          <a:noFill/>
          <a:ln/>
        </p:spPr>
        <p:txBody>
          <a:bodyPr wrap="square" lIns="0" tIns="0" rIns="0" bIns="0" rtlCol="0" anchor="t"/>
          <a:lstStyle/>
          <a:p>
            <a:pPr indent="0" marL="0">
              <a:buNone/>
            </a:pPr>
            <a:r>
              <a:rPr lang="en-US" sz="2000" b="1" dirty="0">
                <a:solidFill>
                  <a:srgbClr val="0D9488"/>
                </a:solidFill>
                <a:latin typeface="Georgia" pitchFamily="34" charset="0"/>
                <a:ea typeface="Georgia" pitchFamily="34" charset="-122"/>
                <a:cs typeface="Georgia" pitchFamily="34" charset="-120"/>
              </a:rPr>
              <a:t>Understand</a:t>
            </a:r>
            <a:endParaRPr lang="en-US" sz="2000" dirty="0"/>
          </a:p>
        </p:txBody>
      </p:sp>
      <p:sp>
        <p:nvSpPr>
          <p:cNvPr id="10" name="Text 8"/>
          <p:cNvSpPr txBox="1"/>
          <p:nvPr/>
        </p:nvSpPr>
        <p:spPr>
          <a:xfrm>
            <a:off x="2980944" y="2834640"/>
            <a:ext cx="1783080" cy="1554480"/>
          </a:xfrm>
          <a:prstGeom prst="rect">
            <a:avLst/>
          </a:prstGeom>
          <a:noFill/>
          <a:ln/>
        </p:spPr>
        <p:txBody>
          <a:bodyPr wrap="square" lIns="0" tIns="0" rIns="0" bIns="0" rtlCol="0" anchor="t"/>
          <a:lstStyle/>
          <a:p>
            <a:pPr indent="0" marL="0">
              <a:buNone/>
            </a:pPr>
            <a:r>
              <a:rPr lang="en-US" sz="1400" dirty="0">
                <a:solidFill>
                  <a:srgbClr val="0F1B2D"/>
                </a:solidFill>
                <a:latin typeface="Calibri" pitchFamily="34" charset="0"/>
                <a:ea typeface="Calibri" pitchFamily="34" charset="-122"/>
                <a:cs typeface="Calibri" pitchFamily="34" charset="-120"/>
              </a:rPr>
              <a:t>Fuse both streams into one patient state</a:t>
            </a:r>
            <a:endParaRPr lang="en-US" sz="1400" dirty="0"/>
          </a:p>
        </p:txBody>
      </p:sp>
      <p:sp>
        <p:nvSpPr>
          <p:cNvPr id="11" name="step Predict"/>
          <p:cNvSpPr/>
          <p:nvPr/>
        </p:nvSpPr>
        <p:spPr>
          <a:xfrm>
            <a:off x="5047488" y="1554480"/>
            <a:ext cx="2103120" cy="2926080"/>
          </a:xfrm>
          <a:prstGeom prst="roundRect">
            <a:avLst>
              <a:gd name="adj" fmla="val 5217"/>
            </a:avLst>
          </a:prstGeom>
          <a:solidFill>
            <a:srgbClr val="F2F5FA"/>
          </a:solidFill>
          <a:ln w="25400">
            <a:solidFill>
              <a:srgbClr val="16915C"/>
            </a:solidFill>
            <a:prstDash val="solid"/>
          </a:ln>
        </p:spPr>
      </p:sp>
      <p:sp>
        <p:nvSpPr>
          <p:cNvPr id="12" name="Text 10"/>
          <p:cNvSpPr txBox="1"/>
          <p:nvPr/>
        </p:nvSpPr>
        <p:spPr>
          <a:xfrm>
            <a:off x="5230368" y="1691640"/>
            <a:ext cx="548640" cy="548640"/>
          </a:xfrm>
          <a:prstGeom prst="rect">
            <a:avLst/>
          </a:prstGeom>
          <a:noFill/>
          <a:ln/>
        </p:spPr>
        <p:txBody>
          <a:bodyPr wrap="square" lIns="0" tIns="0" rIns="0" bIns="0" rtlCol="0" anchor="t"/>
          <a:lstStyle/>
          <a:p>
            <a:pPr indent="0" marL="0">
              <a:buNone/>
            </a:pPr>
            <a:r>
              <a:rPr lang="en-US" sz="2800" b="1" dirty="0">
                <a:solidFill>
                  <a:srgbClr val="16915C"/>
                </a:solidFill>
                <a:latin typeface="Georgia" pitchFamily="34" charset="0"/>
                <a:ea typeface="Georgia" pitchFamily="34" charset="-122"/>
                <a:cs typeface="Georgia" pitchFamily="34" charset="-120"/>
              </a:rPr>
              <a:t>3</a:t>
            </a:r>
            <a:endParaRPr lang="en-US" sz="2800" dirty="0"/>
          </a:p>
        </p:txBody>
      </p:sp>
      <p:sp>
        <p:nvSpPr>
          <p:cNvPr id="13" name="Text 11"/>
          <p:cNvSpPr txBox="1"/>
          <p:nvPr/>
        </p:nvSpPr>
        <p:spPr>
          <a:xfrm>
            <a:off x="5230368" y="2286000"/>
            <a:ext cx="1783080" cy="457200"/>
          </a:xfrm>
          <a:prstGeom prst="rect">
            <a:avLst/>
          </a:prstGeom>
          <a:noFill/>
          <a:ln/>
        </p:spPr>
        <p:txBody>
          <a:bodyPr wrap="square" lIns="0" tIns="0" rIns="0" bIns="0" rtlCol="0" anchor="t"/>
          <a:lstStyle/>
          <a:p>
            <a:pPr indent="0" marL="0">
              <a:buNone/>
            </a:pPr>
            <a:r>
              <a:rPr lang="en-US" sz="2000" b="1" dirty="0">
                <a:solidFill>
                  <a:srgbClr val="16915C"/>
                </a:solidFill>
                <a:latin typeface="Georgia" pitchFamily="34" charset="0"/>
                <a:ea typeface="Georgia" pitchFamily="34" charset="-122"/>
                <a:cs typeface="Georgia" pitchFamily="34" charset="-120"/>
              </a:rPr>
              <a:t>Predict</a:t>
            </a:r>
            <a:endParaRPr lang="en-US" sz="2000" dirty="0"/>
          </a:p>
        </p:txBody>
      </p:sp>
      <p:sp>
        <p:nvSpPr>
          <p:cNvPr id="14" name="Text 12"/>
          <p:cNvSpPr txBox="1"/>
          <p:nvPr/>
        </p:nvSpPr>
        <p:spPr>
          <a:xfrm>
            <a:off x="5230368" y="2834640"/>
            <a:ext cx="1783080" cy="1554480"/>
          </a:xfrm>
          <a:prstGeom prst="rect">
            <a:avLst/>
          </a:prstGeom>
          <a:noFill/>
          <a:ln/>
        </p:spPr>
        <p:txBody>
          <a:bodyPr wrap="square" lIns="0" tIns="0" rIns="0" bIns="0" rtlCol="0" anchor="t"/>
          <a:lstStyle/>
          <a:p>
            <a:pPr indent="0" marL="0">
              <a:buNone/>
            </a:pPr>
            <a:r>
              <a:rPr lang="en-US" sz="1400" dirty="0">
                <a:solidFill>
                  <a:srgbClr val="0F1B2D"/>
                </a:solidFill>
                <a:latin typeface="Calibri" pitchFamily="34" charset="0"/>
                <a:ea typeface="Calibri" pitchFamily="34" charset="-122"/>
                <a:cs typeface="Calibri" pitchFamily="34" charset="-120"/>
              </a:rPr>
              <a:t>Glucose at +30 / 60 / 120 min and chance of a low</a:t>
            </a:r>
            <a:endParaRPr lang="en-US" sz="1400" dirty="0"/>
          </a:p>
        </p:txBody>
      </p:sp>
      <p:sp>
        <p:nvSpPr>
          <p:cNvPr id="15" name="step Explain"/>
          <p:cNvSpPr/>
          <p:nvPr/>
        </p:nvSpPr>
        <p:spPr>
          <a:xfrm>
            <a:off x="7296912" y="1554480"/>
            <a:ext cx="2103120" cy="2926080"/>
          </a:xfrm>
          <a:prstGeom prst="roundRect">
            <a:avLst>
              <a:gd name="adj" fmla="val 5217"/>
            </a:avLst>
          </a:prstGeom>
          <a:solidFill>
            <a:srgbClr val="F2F5FA"/>
          </a:solidFill>
          <a:ln w="25400">
            <a:solidFill>
              <a:srgbClr val="7C3AED"/>
            </a:solidFill>
            <a:prstDash val="solid"/>
          </a:ln>
        </p:spPr>
      </p:sp>
      <p:sp>
        <p:nvSpPr>
          <p:cNvPr id="16" name="Text 14"/>
          <p:cNvSpPr txBox="1"/>
          <p:nvPr/>
        </p:nvSpPr>
        <p:spPr>
          <a:xfrm>
            <a:off x="7479792" y="1691640"/>
            <a:ext cx="548640" cy="548640"/>
          </a:xfrm>
          <a:prstGeom prst="rect">
            <a:avLst/>
          </a:prstGeom>
          <a:noFill/>
          <a:ln/>
        </p:spPr>
        <p:txBody>
          <a:bodyPr wrap="square" lIns="0" tIns="0" rIns="0" bIns="0" rtlCol="0" anchor="t"/>
          <a:lstStyle/>
          <a:p>
            <a:pPr indent="0" marL="0">
              <a:buNone/>
            </a:pPr>
            <a:r>
              <a:rPr lang="en-US" sz="2800" b="1" dirty="0">
                <a:solidFill>
                  <a:srgbClr val="7C3AED"/>
                </a:solidFill>
                <a:latin typeface="Georgia" pitchFamily="34" charset="0"/>
                <a:ea typeface="Georgia" pitchFamily="34" charset="-122"/>
                <a:cs typeface="Georgia" pitchFamily="34" charset="-120"/>
              </a:rPr>
              <a:t>4</a:t>
            </a:r>
            <a:endParaRPr lang="en-US" sz="2800" dirty="0"/>
          </a:p>
        </p:txBody>
      </p:sp>
      <p:sp>
        <p:nvSpPr>
          <p:cNvPr id="17" name="Text 15"/>
          <p:cNvSpPr txBox="1"/>
          <p:nvPr/>
        </p:nvSpPr>
        <p:spPr>
          <a:xfrm>
            <a:off x="7479792" y="2286000"/>
            <a:ext cx="1783080" cy="457200"/>
          </a:xfrm>
          <a:prstGeom prst="rect">
            <a:avLst/>
          </a:prstGeom>
          <a:noFill/>
          <a:ln/>
        </p:spPr>
        <p:txBody>
          <a:bodyPr wrap="square" lIns="0" tIns="0" rIns="0" bIns="0" rtlCol="0" anchor="t"/>
          <a:lstStyle/>
          <a:p>
            <a:pPr indent="0" marL="0">
              <a:buNone/>
            </a:pPr>
            <a:r>
              <a:rPr lang="en-US" sz="2000" b="1" dirty="0">
                <a:solidFill>
                  <a:srgbClr val="7C3AED"/>
                </a:solidFill>
                <a:latin typeface="Georgia" pitchFamily="34" charset="0"/>
                <a:ea typeface="Georgia" pitchFamily="34" charset="-122"/>
                <a:cs typeface="Georgia" pitchFamily="34" charset="-120"/>
              </a:rPr>
              <a:t>Explain</a:t>
            </a:r>
            <a:endParaRPr lang="en-US" sz="2000" dirty="0"/>
          </a:p>
        </p:txBody>
      </p:sp>
      <p:sp>
        <p:nvSpPr>
          <p:cNvPr id="18" name="Text 16"/>
          <p:cNvSpPr txBox="1"/>
          <p:nvPr/>
        </p:nvSpPr>
        <p:spPr>
          <a:xfrm>
            <a:off x="7479792" y="2834640"/>
            <a:ext cx="1783080" cy="1554480"/>
          </a:xfrm>
          <a:prstGeom prst="rect">
            <a:avLst/>
          </a:prstGeom>
          <a:noFill/>
          <a:ln/>
        </p:spPr>
        <p:txBody>
          <a:bodyPr wrap="square" lIns="0" tIns="0" rIns="0" bIns="0" rtlCol="0" anchor="t"/>
          <a:lstStyle/>
          <a:p>
            <a:pPr indent="0" marL="0">
              <a:buNone/>
            </a:pPr>
            <a:r>
              <a:rPr lang="en-US" sz="1400" dirty="0">
                <a:solidFill>
                  <a:srgbClr val="0F1B2D"/>
                </a:solidFill>
                <a:latin typeface="Calibri" pitchFamily="34" charset="0"/>
                <a:ea typeface="Calibri" pitchFamily="34" charset="-122"/>
                <a:cs typeface="Calibri" pitchFamily="34" charset="-120"/>
              </a:rPr>
              <a:t>SHAP reasons in plain language, with uncertainty</a:t>
            </a:r>
            <a:endParaRPr lang="en-US" sz="1400" dirty="0"/>
          </a:p>
        </p:txBody>
      </p:sp>
      <p:sp>
        <p:nvSpPr>
          <p:cNvPr id="19" name="step Act"/>
          <p:cNvSpPr/>
          <p:nvPr/>
        </p:nvSpPr>
        <p:spPr>
          <a:xfrm>
            <a:off x="9546336" y="1554480"/>
            <a:ext cx="2103120" cy="2926080"/>
          </a:xfrm>
          <a:prstGeom prst="roundRect">
            <a:avLst>
              <a:gd name="adj" fmla="val 5217"/>
            </a:avLst>
          </a:prstGeom>
          <a:solidFill>
            <a:srgbClr val="F2F5FA"/>
          </a:solidFill>
          <a:ln w="25400">
            <a:solidFill>
              <a:srgbClr val="D97706"/>
            </a:solidFill>
            <a:prstDash val="solid"/>
          </a:ln>
        </p:spPr>
      </p:sp>
      <p:sp>
        <p:nvSpPr>
          <p:cNvPr id="20" name="Text 18"/>
          <p:cNvSpPr txBox="1"/>
          <p:nvPr/>
        </p:nvSpPr>
        <p:spPr>
          <a:xfrm>
            <a:off x="9729216" y="1691640"/>
            <a:ext cx="548640" cy="548640"/>
          </a:xfrm>
          <a:prstGeom prst="rect">
            <a:avLst/>
          </a:prstGeom>
          <a:noFill/>
          <a:ln/>
        </p:spPr>
        <p:txBody>
          <a:bodyPr wrap="square" lIns="0" tIns="0" rIns="0" bIns="0" rtlCol="0" anchor="t"/>
          <a:lstStyle/>
          <a:p>
            <a:pPr indent="0" marL="0">
              <a:buNone/>
            </a:pPr>
            <a:r>
              <a:rPr lang="en-US" sz="2800" b="1" dirty="0">
                <a:solidFill>
                  <a:srgbClr val="D97706"/>
                </a:solidFill>
                <a:latin typeface="Georgia" pitchFamily="34" charset="0"/>
                <a:ea typeface="Georgia" pitchFamily="34" charset="-122"/>
                <a:cs typeface="Georgia" pitchFamily="34" charset="-120"/>
              </a:rPr>
              <a:t>5</a:t>
            </a:r>
            <a:endParaRPr lang="en-US" sz="2800" dirty="0"/>
          </a:p>
        </p:txBody>
      </p:sp>
      <p:sp>
        <p:nvSpPr>
          <p:cNvPr id="21" name="Text 19"/>
          <p:cNvSpPr txBox="1"/>
          <p:nvPr/>
        </p:nvSpPr>
        <p:spPr>
          <a:xfrm>
            <a:off x="9729216" y="2286000"/>
            <a:ext cx="1783080" cy="457200"/>
          </a:xfrm>
          <a:prstGeom prst="rect">
            <a:avLst/>
          </a:prstGeom>
          <a:noFill/>
          <a:ln/>
        </p:spPr>
        <p:txBody>
          <a:bodyPr wrap="square" lIns="0" tIns="0" rIns="0" bIns="0" rtlCol="0" anchor="t"/>
          <a:lstStyle/>
          <a:p>
            <a:pPr indent="0" marL="0">
              <a:buNone/>
            </a:pPr>
            <a:r>
              <a:rPr lang="en-US" sz="2000" b="1" dirty="0">
                <a:solidFill>
                  <a:srgbClr val="D97706"/>
                </a:solidFill>
                <a:latin typeface="Georgia" pitchFamily="34" charset="0"/>
                <a:ea typeface="Georgia" pitchFamily="34" charset="-122"/>
                <a:cs typeface="Georgia" pitchFamily="34" charset="-120"/>
              </a:rPr>
              <a:t>Act</a:t>
            </a:r>
            <a:endParaRPr lang="en-US" sz="2000" dirty="0"/>
          </a:p>
        </p:txBody>
      </p:sp>
      <p:sp>
        <p:nvSpPr>
          <p:cNvPr id="22" name="Text 20"/>
          <p:cNvSpPr txBox="1"/>
          <p:nvPr/>
        </p:nvSpPr>
        <p:spPr>
          <a:xfrm>
            <a:off x="9729216" y="2834640"/>
            <a:ext cx="1783080" cy="1554480"/>
          </a:xfrm>
          <a:prstGeom prst="rect">
            <a:avLst/>
          </a:prstGeom>
          <a:noFill/>
          <a:ln/>
        </p:spPr>
        <p:txBody>
          <a:bodyPr wrap="square" lIns="0" tIns="0" rIns="0" bIns="0" rtlCol="0" anchor="t"/>
          <a:lstStyle/>
          <a:p>
            <a:pPr indent="0" marL="0">
              <a:buNone/>
            </a:pPr>
            <a:r>
              <a:rPr lang="en-US" sz="1400" dirty="0">
                <a:solidFill>
                  <a:srgbClr val="0F1B2D"/>
                </a:solidFill>
                <a:latin typeface="Calibri" pitchFamily="34" charset="0"/>
                <a:ea typeface="Calibri" pitchFamily="34" charset="-122"/>
                <a:cs typeface="Calibri" pitchFamily="34" charset="-120"/>
              </a:rPr>
              <a:t>Clinician reviews and tests what-ifs, then decides</a:t>
            </a:r>
            <a:endParaRPr lang="en-US" sz="1400" dirty="0"/>
          </a:p>
        </p:txBody>
      </p:sp>
      <p:sp>
        <p:nvSpPr>
          <p:cNvPr id="23" name="Text 21"/>
          <p:cNvSpPr txBox="1"/>
          <p:nvPr/>
        </p:nvSpPr>
        <p:spPr>
          <a:xfrm>
            <a:off x="548640" y="4846320"/>
            <a:ext cx="11064240" cy="731520"/>
          </a:xfrm>
          <a:prstGeom prst="rect">
            <a:avLst/>
          </a:prstGeom>
          <a:noFill/>
          <a:ln/>
        </p:spPr>
        <p:txBody>
          <a:bodyPr wrap="square" lIns="0" tIns="0" rIns="0" bIns="0" rtlCol="0" anchor="t"/>
          <a:lstStyle/>
          <a:p>
            <a:pPr indent="0" marL="0">
              <a:buNone/>
            </a:pPr>
            <a:r>
              <a:rPr lang="en-US" sz="1800" dirty="0">
                <a:solidFill>
                  <a:srgbClr val="56677A"/>
                </a:solidFill>
                <a:latin typeface="Calibri" pitchFamily="34" charset="0"/>
                <a:ea typeface="Calibri" pitchFamily="34" charset="-122"/>
                <a:cs typeface="Calibri" pitchFamily="34" charset="-120"/>
              </a:rPr>
              <a:t>Decision support only. GlucoTwin never prescribes insulin doses; the clinician makes every treatment decision.</a:t>
            </a:r>
            <a:endParaRPr lang="en-US" sz="18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Meeting the brief: two data streams, fused</a:t>
            </a:r>
            <a:endParaRPr lang="en-US" sz="3000" dirty="0"/>
          </a:p>
        </p:txBody>
      </p:sp>
      <p:sp>
        <p:nvSpPr>
          <p:cNvPr id="3" name="s1 card"/>
          <p:cNvSpPr/>
          <p:nvPr/>
        </p:nvSpPr>
        <p:spPr>
          <a:xfrm>
            <a:off x="548640" y="1371600"/>
            <a:ext cx="5394960" cy="3200400"/>
          </a:xfrm>
          <a:prstGeom prst="roundRect">
            <a:avLst>
              <a:gd name="adj" fmla="val 3429"/>
            </a:avLst>
          </a:prstGeom>
          <a:solidFill>
            <a:srgbClr val="F2F5FA"/>
          </a:solidFill>
          <a:ln w="12700">
            <a:solidFill>
              <a:srgbClr val="D8E0E8"/>
            </a:solidFill>
            <a:prstDash val="solid"/>
          </a:ln>
        </p:spPr>
      </p:sp>
      <p:sp>
        <p:nvSpPr>
          <p:cNvPr id="4" name="s1 accent"/>
          <p:cNvSpPr/>
          <p:nvPr/>
        </p:nvSpPr>
        <p:spPr>
          <a:xfrm>
            <a:off x="548640" y="1600200"/>
            <a:ext cx="64008" cy="2743200"/>
          </a:xfrm>
          <a:prstGeom prst="rect">
            <a:avLst/>
          </a:prstGeom>
          <a:solidFill>
            <a:srgbClr val="16915C"/>
          </a:solidFill>
          <a:ln w="12700">
            <a:solidFill>
              <a:srgbClr val="16915C"/>
            </a:solidFill>
            <a:prstDash val="solid"/>
          </a:ln>
        </p:spPr>
      </p:sp>
      <p:sp>
        <p:nvSpPr>
          <p:cNvPr id="5" name="Text 3"/>
          <p:cNvSpPr txBox="1"/>
          <p:nvPr/>
        </p:nvSpPr>
        <p:spPr>
          <a:xfrm>
            <a:off x="822960" y="1554480"/>
            <a:ext cx="4937760" cy="457200"/>
          </a:xfrm>
          <a:prstGeom prst="rect">
            <a:avLst/>
          </a:prstGeom>
          <a:noFill/>
          <a:ln/>
        </p:spPr>
        <p:txBody>
          <a:bodyPr wrap="square" lIns="0" tIns="0" rIns="0" bIns="0" rtlCol="0" anchor="t"/>
          <a:lstStyle/>
          <a:p>
            <a:pPr indent="0" marL="0">
              <a:buNone/>
            </a:pPr>
            <a:r>
              <a:rPr lang="en-US" sz="1800" b="1" dirty="0">
                <a:solidFill>
                  <a:srgbClr val="16915C"/>
                </a:solidFill>
                <a:latin typeface="Georgia" pitchFamily="34" charset="0"/>
                <a:ea typeface="Georgia" pitchFamily="34" charset="-122"/>
                <a:cs typeface="Georgia" pitchFamily="34" charset="-120"/>
              </a:rPr>
              <a:t>Static stream: simulated EHR</a:t>
            </a:r>
            <a:endParaRPr lang="en-US" sz="1800" dirty="0"/>
          </a:p>
        </p:txBody>
      </p:sp>
      <p:sp>
        <p:nvSpPr>
          <p:cNvPr id="6" name="Text 4"/>
          <p:cNvSpPr txBox="1"/>
          <p:nvPr/>
        </p:nvSpPr>
        <p:spPr>
          <a:xfrm>
            <a:off x="822960" y="2057400"/>
            <a:ext cx="493776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Demographics: age, sex, BMI</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Diagnoses: duration, hypertension, neuropathy, kidney stage</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Labs: HbA1c, eGFR, fasting glucose, LDL</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Genetic markers: TCF7L2, KCNJ11 risk alleles</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Medication: sulfonylurea; FHIR R4-style export</a:t>
            </a:r>
            <a:endParaRPr lang="en-US" sz="1500" dirty="0"/>
          </a:p>
        </p:txBody>
      </p:sp>
      <p:sp>
        <p:nvSpPr>
          <p:cNvPr id="7" name="s2 card"/>
          <p:cNvSpPr/>
          <p:nvPr/>
        </p:nvSpPr>
        <p:spPr>
          <a:xfrm>
            <a:off x="6217920" y="1371600"/>
            <a:ext cx="5394960" cy="3200400"/>
          </a:xfrm>
          <a:prstGeom prst="roundRect">
            <a:avLst>
              <a:gd name="adj" fmla="val 3429"/>
            </a:avLst>
          </a:prstGeom>
          <a:solidFill>
            <a:srgbClr val="F2F5FA"/>
          </a:solidFill>
          <a:ln w="12700">
            <a:solidFill>
              <a:srgbClr val="D8E0E8"/>
            </a:solidFill>
            <a:prstDash val="solid"/>
          </a:ln>
        </p:spPr>
      </p:sp>
      <p:sp>
        <p:nvSpPr>
          <p:cNvPr id="8" name="s2 accent"/>
          <p:cNvSpPr/>
          <p:nvPr/>
        </p:nvSpPr>
        <p:spPr>
          <a:xfrm>
            <a:off x="6217920" y="1600200"/>
            <a:ext cx="64008" cy="2743200"/>
          </a:xfrm>
          <a:prstGeom prst="rect">
            <a:avLst/>
          </a:prstGeom>
          <a:solidFill>
            <a:srgbClr val="D97706"/>
          </a:solidFill>
          <a:ln w="12700">
            <a:solidFill>
              <a:srgbClr val="D97706"/>
            </a:solidFill>
            <a:prstDash val="solid"/>
          </a:ln>
        </p:spPr>
      </p:sp>
      <p:sp>
        <p:nvSpPr>
          <p:cNvPr id="9" name="Text 7"/>
          <p:cNvSpPr txBox="1"/>
          <p:nvPr/>
        </p:nvSpPr>
        <p:spPr>
          <a:xfrm>
            <a:off x="6492240" y="1554480"/>
            <a:ext cx="4937760" cy="457200"/>
          </a:xfrm>
          <a:prstGeom prst="rect">
            <a:avLst/>
          </a:prstGeom>
          <a:noFill/>
          <a:ln/>
        </p:spPr>
        <p:txBody>
          <a:bodyPr wrap="square" lIns="0" tIns="0" rIns="0" bIns="0" rtlCol="0" anchor="t"/>
          <a:lstStyle/>
          <a:p>
            <a:pPr indent="0" marL="0">
              <a:buNone/>
            </a:pPr>
            <a:r>
              <a:rPr lang="en-US" sz="1800" b="1" dirty="0">
                <a:solidFill>
                  <a:srgbClr val="D97706"/>
                </a:solidFill>
                <a:latin typeface="Georgia" pitchFamily="34" charset="0"/>
                <a:ea typeface="Georgia" pitchFamily="34" charset="-122"/>
                <a:cs typeface="Georgia" pitchFamily="34" charset="-120"/>
              </a:rPr>
              <a:t>Dynamic stream: simulated wearables</a:t>
            </a:r>
            <a:endParaRPr lang="en-US" sz="1800" dirty="0"/>
          </a:p>
        </p:txBody>
      </p:sp>
      <p:sp>
        <p:nvSpPr>
          <p:cNvPr id="10" name="Text 8"/>
          <p:cNvSpPr txBox="1"/>
          <p:nvPr/>
        </p:nvSpPr>
        <p:spPr>
          <a:xfrm>
            <a:off x="6492240" y="2057400"/>
            <a:ext cx="493776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CGM glucose every 5 minutes</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Smartwatch: steps and heart rate, sleep flag</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Logbook: meals (carbs) and insulin doses</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Streams live into the dashboard</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Swappable for open CGM datasets</a:t>
            </a:r>
            <a:endParaRPr lang="en-US" sz="1500" dirty="0"/>
          </a:p>
        </p:txBody>
      </p:sp>
      <p:sp>
        <p:nvSpPr>
          <p:cNvPr id="11" name="fusion bar"/>
          <p:cNvSpPr/>
          <p:nvPr/>
        </p:nvSpPr>
        <p:spPr>
          <a:xfrm>
            <a:off x="548640" y="4846320"/>
            <a:ext cx="11064240" cy="1097280"/>
          </a:xfrm>
          <a:prstGeom prst="roundRect">
            <a:avLst>
              <a:gd name="adj" fmla="val 10000"/>
            </a:avLst>
          </a:prstGeom>
          <a:solidFill>
            <a:srgbClr val="0F1B2D"/>
          </a:solidFill>
          <a:ln w="12700">
            <a:solidFill>
              <a:srgbClr val="0F1B2D"/>
            </a:solidFill>
            <a:prstDash val="solid"/>
          </a:ln>
        </p:spPr>
      </p:sp>
      <p:sp>
        <p:nvSpPr>
          <p:cNvPr id="12" name="Text 10"/>
          <p:cNvSpPr txBox="1"/>
          <p:nvPr/>
        </p:nvSpPr>
        <p:spPr>
          <a:xfrm>
            <a:off x="822960" y="5074920"/>
            <a:ext cx="1051560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Fusion: 14 EHR features + 17 wearable features go into one model, tested on 16 patients it never saw during training.</a:t>
            </a:r>
            <a:endParaRPr lang="en-US" sz="2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System architecture</a:t>
            </a:r>
            <a:endParaRPr lang="en-US" sz="3000" dirty="0"/>
          </a:p>
        </p:txBody>
      </p:sp>
      <p:pic>
        <p:nvPicPr>
          <p:cNvPr id="3" name="Image 0" descr="GlucoTwin architecture diagram">    </p:cNvPr>
          <p:cNvPicPr>
            <a:picLocks noChangeAspect="1"/>
          </p:cNvPicPr>
          <p:nvPr/>
        </p:nvPicPr>
        <p:blipFill>
          <a:blip r:embed="rId1"/>
          <a:stretch>
            <a:fillRect/>
          </a:stretch>
        </p:blipFill>
        <p:spPr>
          <a:xfrm>
            <a:off x="1554480" y="1234440"/>
            <a:ext cx="9052560" cy="5120205"/>
          </a:xfrm>
          <a:prstGeom prst="rect">
            <a:avLst/>
          </a:prstGeom>
        </p:spPr>
      </p:pic>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Data and privacy: built for the sandbox rules</a:t>
            </a:r>
            <a:endParaRPr lang="en-US" sz="3000" dirty="0"/>
          </a:p>
        </p:txBody>
      </p:sp>
      <p:graphicFrame>
        <p:nvGraphicFramePr>
          <p:cNvPr id="8"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6949440"/>
                <a:gridCol w="210312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Need</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0F1B2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we used</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0F1B2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Status</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0F1B2D"/>
                    </a:solidFill>
                  </a:tcPr>
                </a:tc>
              </a:tr>
              <a:tr h="566928">
                <a:tc>
                  <a:txBody>
                    <a:bodyPr/>
                    <a:lstStyle/>
                    <a:p>
                      <a:pPr indent="0" marL="0">
                        <a:buNone/>
                      </a:pPr>
                      <a:r>
                        <a:rPr lang="en-US" sz="1500" dirty="0">
                          <a:solidFill>
                            <a:srgbClr val="0F1B2D"/>
                          </a:solidFill>
                          <a:latin typeface="Calibri" pitchFamily="34" charset="0"/>
                          <a:ea typeface="Calibri" pitchFamily="34" charset="-122"/>
                          <a:cs typeface="Calibri" pitchFamily="34" charset="-120"/>
                        </a:rPr>
                        <a:t>EHR</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500" dirty="0">
                          <a:solidFill>
                            <a:srgbClr val="0F1B2D"/>
                          </a:solidFill>
                          <a:latin typeface="Calibri" pitchFamily="34" charset="0"/>
                          <a:ea typeface="Calibri" pitchFamily="34" charset="-122"/>
                          <a:cs typeface="Calibri" pitchFamily="34" charset="-120"/>
                        </a:rPr>
                        <a:t>Synthetic Type 2 diabetes cohort (60 patients), FHIR R4-style bundles</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500" dirty="0">
                          <a:solidFill>
                            <a:srgbClr val="0F1B2D"/>
                          </a:solidFill>
                          <a:latin typeface="Calibri" pitchFamily="34" charset="0"/>
                          <a:ea typeface="Calibri" pitchFamily="34" charset="-122"/>
                          <a:cs typeface="Calibri" pitchFamily="34" charset="-120"/>
                        </a:rPr>
                        <a:t>Generated</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F1B2D"/>
                          </a:solidFill>
                          <a:latin typeface="Calibri" pitchFamily="34" charset="0"/>
                          <a:ea typeface="Calibri" pitchFamily="34" charset="-122"/>
                          <a:cs typeface="Calibri" pitchFamily="34" charset="-120"/>
                        </a:rPr>
                        <a:t>Sensor data</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2F5FA"/>
                    </a:solidFill>
                  </a:tcPr>
                </a:tc>
                <a:tc>
                  <a:txBody>
                    <a:bodyPr/>
                    <a:lstStyle/>
                    <a:p>
                      <a:pPr indent="0" marL="0">
                        <a:buNone/>
                      </a:pPr>
                      <a:r>
                        <a:rPr lang="en-US" sz="1500" dirty="0">
                          <a:solidFill>
                            <a:srgbClr val="0F1B2D"/>
                          </a:solidFill>
                          <a:latin typeface="Calibri" pitchFamily="34" charset="0"/>
                          <a:ea typeface="Calibri" pitchFamily="34" charset="-122"/>
                          <a:cs typeface="Calibri" pitchFamily="34" charset="-120"/>
                        </a:rPr>
                        <a:t>Simulated CGM, steps, heart rate, meals, insulin</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2F5FA"/>
                    </a:solidFill>
                  </a:tcPr>
                </a:tc>
                <a:tc>
                  <a:txBody>
                    <a:bodyPr/>
                    <a:lstStyle/>
                    <a:p>
                      <a:pPr indent="0" marL="0">
                        <a:buNone/>
                      </a:pPr>
                      <a:r>
                        <a:rPr lang="en-US" sz="1500" dirty="0">
                          <a:solidFill>
                            <a:srgbClr val="0F1B2D"/>
                          </a:solidFill>
                          <a:latin typeface="Calibri" pitchFamily="34" charset="0"/>
                          <a:ea typeface="Calibri" pitchFamily="34" charset="-122"/>
                          <a:cs typeface="Calibri" pitchFamily="34" charset="-120"/>
                        </a:rPr>
                        <a:t>Generated</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2F5FA"/>
                    </a:solidFill>
                  </a:tcPr>
                </a:tc>
              </a:tr>
              <a:tr h="566928">
                <a:tc>
                  <a:txBody>
                    <a:bodyPr/>
                    <a:lstStyle/>
                    <a:p>
                      <a:pPr indent="0" marL="0">
                        <a:buNone/>
                      </a:pPr>
                      <a:r>
                        <a:rPr lang="en-US" sz="1500" dirty="0">
                          <a:solidFill>
                            <a:srgbClr val="0F1B2D"/>
                          </a:solidFill>
                          <a:latin typeface="Calibri" pitchFamily="34" charset="0"/>
                          <a:ea typeface="Calibri" pitchFamily="34" charset="-122"/>
                          <a:cs typeface="Calibri" pitchFamily="34" charset="-120"/>
                        </a:rPr>
                        <a:t>Real datasets</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500" dirty="0">
                          <a:solidFill>
                            <a:srgbClr val="0F1B2D"/>
                          </a:solidFill>
                          <a:latin typeface="Calibri" pitchFamily="34" charset="0"/>
                          <a:ea typeface="Calibri" pitchFamily="34" charset="-122"/>
                          <a:cs typeface="Calibri" pitchFamily="34" charset="-120"/>
                        </a:rPr>
                        <a:t>OhioT1DM, Shanghai CGM, Synthea, MIMIC-IV: licences to confirm</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500" dirty="0">
                          <a:solidFill>
                            <a:srgbClr val="0F1B2D"/>
                          </a:solidFill>
                          <a:latin typeface="Calibri" pitchFamily="34" charset="0"/>
                          <a:ea typeface="Calibri" pitchFamily="34" charset="-122"/>
                          <a:cs typeface="Calibri" pitchFamily="34" charset="-120"/>
                        </a:rPr>
                        <a:t>Planned</a:t>
                      </a:r>
                      <a:endParaRPr lang="en-US" sz="1500" dirty="0">
                        <a:latin typeface="Calibri" charset="0"/>
                        <a:ea typeface="Calibri" charset="0"/>
                        <a:cs typeface="Calibri" charset="0"/>
                      </a:endParaRPr>
                    </a:p>
                  </a:txBody>
                  <a:tcPr marL="91440" marR="9144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114800"/>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0F1B2D"/>
                </a:solidFill>
                <a:latin typeface="Calibri" pitchFamily="34" charset="0"/>
                <a:ea typeface="Calibri" pitchFamily="34" charset="-122"/>
                <a:cs typeface="Calibri" pitchFamily="34" charset="-120"/>
              </a:rPr>
              <a:t>No real patient data and no identifiers anywhere</a:t>
            </a:r>
            <a:endParaRPr lang="en-US" sz="1700" dirty="0"/>
          </a:p>
          <a:p>
            <a:pPr marL="342900" indent="-342900">
              <a:spcAft>
                <a:spcPts val="800"/>
              </a:spcAft>
              <a:buSzPct val="100000"/>
              <a:buChar char="•"/>
            </a:pPr>
            <a:r>
              <a:rPr lang="en-US" sz="1700" dirty="0">
                <a:solidFill>
                  <a:srgbClr val="0F1B2D"/>
                </a:solidFill>
                <a:latin typeface="Calibri" pitchFamily="34" charset="0"/>
                <a:ea typeface="Calibri" pitchFamily="34" charset="-122"/>
                <a:cs typeface="Calibri" pitchFamily="34" charset="-120"/>
              </a:rPr>
              <a:t>Models and explanations run locally; no data sent to external AI APIs</a:t>
            </a:r>
            <a:endParaRPr lang="en-US" sz="1700" dirty="0"/>
          </a:p>
          <a:p>
            <a:pPr marL="342900" indent="-342900">
              <a:spcAft>
                <a:spcPts val="800"/>
              </a:spcAft>
              <a:buSzPct val="100000"/>
              <a:buChar char="•"/>
            </a:pPr>
            <a:r>
              <a:rPr lang="en-US" sz="1700" dirty="0">
                <a:solidFill>
                  <a:srgbClr val="0F1B2D"/>
                </a:solidFill>
                <a:latin typeface="Calibri" pitchFamily="34" charset="0"/>
                <a:ea typeface="Calibri" pitchFamily="34" charset="-122"/>
                <a:cs typeface="Calibri" pitchFamily="34" charset="-120"/>
              </a:rPr>
              <a:t>Designed in the spirit of DPDP Act 2023 and HIPAA-style limits (not a compliance certification)</a:t>
            </a:r>
            <a:endParaRPr lang="en-US" sz="1700" dirty="0"/>
          </a:p>
          <a:p>
            <a:pPr marL="342900" indent="-342900">
              <a:spcAft>
                <a:spcPts val="800"/>
              </a:spcAft>
              <a:buSzPct val="100000"/>
              <a:buChar char="•"/>
            </a:pPr>
            <a:r>
              <a:rPr lang="en-US" sz="1700" dirty="0">
                <a:solidFill>
                  <a:srgbClr val="0F1B2D"/>
                </a:solidFill>
                <a:latin typeface="Calibri" pitchFamily="34" charset="0"/>
                <a:ea typeface="Calibri" pitchFamily="34" charset="-122"/>
                <a:cs typeface="Calibri" pitchFamily="34" charset="-120"/>
              </a:rPr>
              <a:t>Caution: OhioT1DM is Type 1 data and must not be presented as Type 2 validation</a:t>
            </a:r>
            <a:endParaRPr lang="en-US" sz="17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The AI model and how we tested it</a:t>
            </a:r>
            <a:endParaRPr lang="en-US" sz="3000" dirty="0"/>
          </a:p>
        </p:txBody>
      </p:sp>
      <p:sp>
        <p:nvSpPr>
          <p:cNvPr id="3" name="model card"/>
          <p:cNvSpPr/>
          <p:nvPr/>
        </p:nvSpPr>
        <p:spPr>
          <a:xfrm>
            <a:off x="548640" y="1371600"/>
            <a:ext cx="5394960" cy="4480560"/>
          </a:xfrm>
          <a:prstGeom prst="roundRect">
            <a:avLst>
              <a:gd name="adj" fmla="val 2449"/>
            </a:avLst>
          </a:prstGeom>
          <a:solidFill>
            <a:srgbClr val="F2F5FA"/>
          </a:solidFill>
          <a:ln w="12700">
            <a:solidFill>
              <a:srgbClr val="D8E0E8"/>
            </a:solidFill>
            <a:prstDash val="solid"/>
          </a:ln>
        </p:spPr>
      </p:sp>
      <p:sp>
        <p:nvSpPr>
          <p:cNvPr id="4" name="model accent"/>
          <p:cNvSpPr/>
          <p:nvPr/>
        </p:nvSpPr>
        <p:spPr>
          <a:xfrm>
            <a:off x="548640" y="1600200"/>
            <a:ext cx="64008" cy="4023360"/>
          </a:xfrm>
          <a:prstGeom prst="rect">
            <a:avLst/>
          </a:prstGeom>
          <a:solidFill>
            <a:srgbClr val="2563EB"/>
          </a:solidFill>
          <a:ln w="12700">
            <a:solidFill>
              <a:srgbClr val="2563EB"/>
            </a:solidFill>
            <a:prstDash val="solid"/>
          </a:ln>
        </p:spPr>
      </p:sp>
      <p:sp>
        <p:nvSpPr>
          <p:cNvPr id="5" name="Text 3"/>
          <p:cNvSpPr txBox="1"/>
          <p:nvPr/>
        </p:nvSpPr>
        <p:spPr>
          <a:xfrm>
            <a:off x="822960" y="1554480"/>
            <a:ext cx="4937760" cy="457200"/>
          </a:xfrm>
          <a:prstGeom prst="rect">
            <a:avLst/>
          </a:prstGeom>
          <a:noFill/>
          <a:ln/>
        </p:spPr>
        <p:txBody>
          <a:bodyPr wrap="square" lIns="0" tIns="0" rIns="0" bIns="0" rtlCol="0" anchor="t"/>
          <a:lstStyle/>
          <a:p>
            <a:pPr indent="0" marL="0">
              <a:buNone/>
            </a:pPr>
            <a:r>
              <a:rPr lang="en-US" sz="1800" b="1" dirty="0">
                <a:solidFill>
                  <a:srgbClr val="2563EB"/>
                </a:solidFill>
                <a:latin typeface="Georgia" pitchFamily="34" charset="0"/>
                <a:ea typeface="Georgia" pitchFamily="34" charset="-122"/>
                <a:cs typeface="Georgia" pitchFamily="34" charset="-120"/>
              </a:rPr>
              <a:t>Model</a:t>
            </a:r>
            <a:endParaRPr lang="en-US" sz="1800" dirty="0"/>
          </a:p>
        </p:txBody>
      </p:sp>
      <p:sp>
        <p:nvSpPr>
          <p:cNvPr id="6" name="Text 4"/>
          <p:cNvSpPr txBox="1"/>
          <p:nvPr/>
        </p:nvSpPr>
        <p:spPr>
          <a:xfrm>
            <a:off x="822960" y="2057400"/>
            <a:ext cx="4937760" cy="3657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XGBoost forecaster per horizon: +30, +60, +120 minutes</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Classifier: chance of glucose below 70 mg/dL in 60 minutes</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Inputs: fused EHR + wearable features (trends, carbs and insulin on board, activity, heart rate, time of day)</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Split-conformal 90% intervals show uncertainty</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SHAP explains each forecast; what-if re-runs the model</a:t>
            </a:r>
            <a:endParaRPr lang="en-US" sz="1500" dirty="0"/>
          </a:p>
        </p:txBody>
      </p:sp>
      <p:sp>
        <p:nvSpPr>
          <p:cNvPr id="7" name="test card"/>
          <p:cNvSpPr/>
          <p:nvPr/>
        </p:nvSpPr>
        <p:spPr>
          <a:xfrm>
            <a:off x="6217920" y="1371600"/>
            <a:ext cx="5394960" cy="4480560"/>
          </a:xfrm>
          <a:prstGeom prst="roundRect">
            <a:avLst>
              <a:gd name="adj" fmla="val 2449"/>
            </a:avLst>
          </a:prstGeom>
          <a:solidFill>
            <a:srgbClr val="F2F5FA"/>
          </a:solidFill>
          <a:ln w="12700">
            <a:solidFill>
              <a:srgbClr val="D8E0E8"/>
            </a:solidFill>
            <a:prstDash val="solid"/>
          </a:ln>
        </p:spPr>
      </p:sp>
      <p:sp>
        <p:nvSpPr>
          <p:cNvPr id="8" name="test accent"/>
          <p:cNvSpPr/>
          <p:nvPr/>
        </p:nvSpPr>
        <p:spPr>
          <a:xfrm>
            <a:off x="6217920" y="1600200"/>
            <a:ext cx="64008" cy="4023360"/>
          </a:xfrm>
          <a:prstGeom prst="rect">
            <a:avLst/>
          </a:prstGeom>
          <a:solidFill>
            <a:srgbClr val="0D9488"/>
          </a:solidFill>
          <a:ln w="12700">
            <a:solidFill>
              <a:srgbClr val="0D9488"/>
            </a:solidFill>
            <a:prstDash val="solid"/>
          </a:ln>
        </p:spPr>
      </p:sp>
      <p:sp>
        <p:nvSpPr>
          <p:cNvPr id="9" name="Text 7"/>
          <p:cNvSpPr txBox="1"/>
          <p:nvPr/>
        </p:nvSpPr>
        <p:spPr>
          <a:xfrm>
            <a:off x="6492240" y="1554480"/>
            <a:ext cx="4937760" cy="457200"/>
          </a:xfrm>
          <a:prstGeom prst="rect">
            <a:avLst/>
          </a:prstGeom>
          <a:noFill/>
          <a:ln/>
        </p:spPr>
        <p:txBody>
          <a:bodyPr wrap="square" lIns="0" tIns="0" rIns="0" bIns="0" rtlCol="0" anchor="t"/>
          <a:lstStyle/>
          <a:p>
            <a:pPr indent="0" marL="0">
              <a:buNone/>
            </a:pPr>
            <a:r>
              <a:rPr lang="en-US" sz="1800" b="1" dirty="0">
                <a:solidFill>
                  <a:srgbClr val="0D9488"/>
                </a:solidFill>
                <a:latin typeface="Georgia" pitchFamily="34" charset="0"/>
                <a:ea typeface="Georgia" pitchFamily="34" charset="-122"/>
                <a:cs typeface="Georgia" pitchFamily="34" charset="-120"/>
              </a:rPr>
              <a:t>Honest testing</a:t>
            </a:r>
            <a:endParaRPr lang="en-US" sz="1800" dirty="0"/>
          </a:p>
        </p:txBody>
      </p:sp>
      <p:sp>
        <p:nvSpPr>
          <p:cNvPr id="10" name="Text 8"/>
          <p:cNvSpPr txBox="1"/>
          <p:nvPr/>
        </p:nvSpPr>
        <p:spPr>
          <a:xfrm>
            <a:off x="6492240" y="2057400"/>
            <a:ext cx="4937760" cy="3657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Patient-level split: 36 train, 8 validation, 16 unseen test patients</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Features use data up to now only; a unit test checks for leakage</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Baselines: no change, damped linear trend</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Ablation: same model without EHR data</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Metrics: MAE, RMSE, Clarke Error Grid, sensitivity, precision, AUROC</a:t>
            </a:r>
            <a:endParaRPr lang="en-US" sz="1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Results on 16 unseen synthetic patients</a:t>
            </a:r>
            <a:endParaRPr lang="en-US" sz="3000" dirty="0"/>
          </a:p>
        </p:txBody>
      </p:sp>
      <p:graphicFrame>
        <p:nvGraphicFramePr>
          <p:cNvPr id="3" name="error chart" descr=""/>
          <p:cNvGraphicFramePr/>
          <p:nvPr/>
        </p:nvGraphicFramePr>
        <p:xfrm>
          <a:off x="548640" y="137160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463040"/>
            <a:ext cx="3931920" cy="731520"/>
          </a:xfrm>
          <a:prstGeom prst="rect">
            <a:avLst/>
          </a:prstGeom>
          <a:noFill/>
          <a:ln/>
        </p:spPr>
        <p:txBody>
          <a:bodyPr wrap="square" lIns="0" tIns="0" rIns="0" bIns="0" rtlCol="0" anchor="t"/>
          <a:lstStyle/>
          <a:p>
            <a:pPr indent="0" marL="0">
              <a:buNone/>
            </a:pPr>
            <a:r>
              <a:rPr lang="en-US" sz="4000" b="1" dirty="0">
                <a:solidFill>
                  <a:srgbClr val="2563EB"/>
                </a:solidFill>
                <a:latin typeface="Georgia" pitchFamily="34" charset="0"/>
                <a:ea typeface="Georgia" pitchFamily="34" charset="-122"/>
                <a:cs typeface="Georgia" pitchFamily="34" charset="-120"/>
              </a:rPr>
              <a:t>14 vs 34</a:t>
            </a:r>
            <a:endParaRPr lang="en-US" sz="4000" dirty="0"/>
          </a:p>
        </p:txBody>
      </p:sp>
      <p:sp>
        <p:nvSpPr>
          <p:cNvPr id="5" name="Text 2"/>
          <p:cNvSpPr txBox="1"/>
          <p:nvPr/>
        </p:nvSpPr>
        <p:spPr>
          <a:xfrm>
            <a:off x="7680960" y="2194560"/>
            <a:ext cx="3931920" cy="640080"/>
          </a:xfrm>
          <a:prstGeom prst="rect">
            <a:avLst/>
          </a:prstGeom>
          <a:noFill/>
          <a:ln/>
        </p:spPr>
        <p:txBody>
          <a:bodyPr wrap="square" lIns="0" tIns="0" rIns="0" bIns="0" rtlCol="0" anchor="t"/>
          <a:lstStyle/>
          <a:p>
            <a:pPr indent="0" marL="0">
              <a:buNone/>
            </a:pPr>
            <a:r>
              <a:rPr lang="en-US" sz="1500" dirty="0">
                <a:solidFill>
                  <a:srgbClr val="56677A"/>
                </a:solidFill>
                <a:latin typeface="Calibri" pitchFamily="34" charset="0"/>
                <a:ea typeface="Calibri" pitchFamily="34" charset="-122"/>
                <a:cs typeface="Calibri" pitchFamily="34" charset="-120"/>
              </a:rPr>
              <a:t>mg/dL average error at 60 min, fused vs no change</a:t>
            </a:r>
            <a:endParaRPr lang="en-US" sz="1500" dirty="0"/>
          </a:p>
        </p:txBody>
      </p:sp>
      <p:sp>
        <p:nvSpPr>
          <p:cNvPr id="6" name="Text 3"/>
          <p:cNvSpPr txBox="1"/>
          <p:nvPr/>
        </p:nvSpPr>
        <p:spPr>
          <a:xfrm>
            <a:off x="7680960" y="3017520"/>
            <a:ext cx="3931920" cy="731520"/>
          </a:xfrm>
          <a:prstGeom prst="rect">
            <a:avLst/>
          </a:prstGeom>
          <a:noFill/>
          <a:ln/>
        </p:spPr>
        <p:txBody>
          <a:bodyPr wrap="square" lIns="0" tIns="0" rIns="0" bIns="0" rtlCol="0" anchor="t"/>
          <a:lstStyle/>
          <a:p>
            <a:pPr indent="0" marL="0">
              <a:buNone/>
            </a:pPr>
            <a:r>
              <a:rPr lang="en-US" sz="4000" b="1" dirty="0">
                <a:solidFill>
                  <a:srgbClr val="16915C"/>
                </a:solidFill>
                <a:latin typeface="Georgia" pitchFamily="34" charset="0"/>
                <a:ea typeface="Georgia" pitchFamily="34" charset="-122"/>
                <a:cs typeface="Georgia" pitchFamily="34" charset="-120"/>
              </a:rPr>
              <a:t>0.97</a:t>
            </a:r>
            <a:endParaRPr lang="en-US" sz="4000" dirty="0"/>
          </a:p>
        </p:txBody>
      </p:sp>
      <p:sp>
        <p:nvSpPr>
          <p:cNvPr id="7" name="Text 4"/>
          <p:cNvSpPr txBox="1"/>
          <p:nvPr/>
        </p:nvSpPr>
        <p:spPr>
          <a:xfrm>
            <a:off x="7680960" y="3749040"/>
            <a:ext cx="3931920" cy="640080"/>
          </a:xfrm>
          <a:prstGeom prst="rect">
            <a:avLst/>
          </a:prstGeom>
          <a:noFill/>
          <a:ln/>
        </p:spPr>
        <p:txBody>
          <a:bodyPr wrap="square" lIns="0" tIns="0" rIns="0" bIns="0" rtlCol="0" anchor="t"/>
          <a:lstStyle/>
          <a:p>
            <a:pPr indent="0" marL="0">
              <a:buNone/>
            </a:pPr>
            <a:r>
              <a:rPr lang="en-US" sz="1500" dirty="0">
                <a:solidFill>
                  <a:srgbClr val="56677A"/>
                </a:solidFill>
                <a:latin typeface="Calibri" pitchFamily="34" charset="0"/>
                <a:ea typeface="Calibri" pitchFamily="34" charset="-122"/>
                <a:cs typeface="Calibri" pitchFamily="34" charset="-120"/>
              </a:rPr>
              <a:t>AUROC for spotting a low in 60 min</a:t>
            </a:r>
            <a:endParaRPr lang="en-US" sz="1500" dirty="0"/>
          </a:p>
        </p:txBody>
      </p:sp>
      <p:sp>
        <p:nvSpPr>
          <p:cNvPr id="8" name="Text 5"/>
          <p:cNvSpPr txBox="1"/>
          <p:nvPr/>
        </p:nvSpPr>
        <p:spPr>
          <a:xfrm>
            <a:off x="7680960" y="4572000"/>
            <a:ext cx="3931920" cy="731520"/>
          </a:xfrm>
          <a:prstGeom prst="rect">
            <a:avLst/>
          </a:prstGeom>
          <a:noFill/>
          <a:ln/>
        </p:spPr>
        <p:txBody>
          <a:bodyPr wrap="square" lIns="0" tIns="0" rIns="0" bIns="0" rtlCol="0" anchor="t"/>
          <a:lstStyle/>
          <a:p>
            <a:pPr indent="0" marL="0">
              <a:buNone/>
            </a:pPr>
            <a:r>
              <a:rPr lang="en-US" sz="4000" b="1" dirty="0">
                <a:solidFill>
                  <a:srgbClr val="7C3AED"/>
                </a:solidFill>
                <a:latin typeface="Georgia" pitchFamily="34" charset="0"/>
                <a:ea typeface="Georgia" pitchFamily="34" charset="-122"/>
                <a:cs typeface="Georgia" pitchFamily="34" charset="-120"/>
              </a:rPr>
              <a:t>90%</a:t>
            </a:r>
            <a:endParaRPr lang="en-US" sz="4000" dirty="0"/>
          </a:p>
        </p:txBody>
      </p:sp>
      <p:sp>
        <p:nvSpPr>
          <p:cNvPr id="9" name="Text 6"/>
          <p:cNvSpPr txBox="1"/>
          <p:nvPr/>
        </p:nvSpPr>
        <p:spPr>
          <a:xfrm>
            <a:off x="7680960" y="5303520"/>
            <a:ext cx="3931920" cy="640080"/>
          </a:xfrm>
          <a:prstGeom prst="rect">
            <a:avLst/>
          </a:prstGeom>
          <a:noFill/>
          <a:ln/>
        </p:spPr>
        <p:txBody>
          <a:bodyPr wrap="square" lIns="0" tIns="0" rIns="0" bIns="0" rtlCol="0" anchor="t"/>
          <a:lstStyle/>
          <a:p>
            <a:pPr indent="0" marL="0">
              <a:buNone/>
            </a:pPr>
            <a:r>
              <a:rPr lang="en-US" sz="1500" dirty="0">
                <a:solidFill>
                  <a:srgbClr val="56677A"/>
                </a:solidFill>
                <a:latin typeface="Calibri" pitchFamily="34" charset="0"/>
                <a:ea typeface="Calibri" pitchFamily="34" charset="-122"/>
                <a:cs typeface="Calibri" pitchFamily="34" charset="-120"/>
              </a:rPr>
              <a:t>of outcomes fell inside the 90% interval</a:t>
            </a:r>
            <a:endParaRPr lang="en-US" sz="1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What the results do and do not show</a:t>
            </a:r>
            <a:endParaRPr lang="en-US" sz="3000" dirty="0"/>
          </a:p>
        </p:txBody>
      </p:sp>
      <p:sp>
        <p:nvSpPr>
          <p:cNvPr id="3" name="works card"/>
          <p:cNvSpPr/>
          <p:nvPr/>
        </p:nvSpPr>
        <p:spPr>
          <a:xfrm>
            <a:off x="548640" y="1371600"/>
            <a:ext cx="3566160" cy="4480560"/>
          </a:xfrm>
          <a:prstGeom prst="roundRect">
            <a:avLst>
              <a:gd name="adj" fmla="val 3077"/>
            </a:avLst>
          </a:prstGeom>
          <a:solidFill>
            <a:srgbClr val="F2F5FA"/>
          </a:solidFill>
          <a:ln w="12700">
            <a:solidFill>
              <a:srgbClr val="D8E0E8"/>
            </a:solidFill>
            <a:prstDash val="solid"/>
          </a:ln>
        </p:spPr>
      </p:sp>
      <p:sp>
        <p:nvSpPr>
          <p:cNvPr id="4" name="works accent"/>
          <p:cNvSpPr/>
          <p:nvPr/>
        </p:nvSpPr>
        <p:spPr>
          <a:xfrm>
            <a:off x="548640" y="1600200"/>
            <a:ext cx="64008" cy="4023360"/>
          </a:xfrm>
          <a:prstGeom prst="rect">
            <a:avLst/>
          </a:prstGeom>
          <a:solidFill>
            <a:srgbClr val="16915C"/>
          </a:solidFill>
          <a:ln w="12700">
            <a:solidFill>
              <a:srgbClr val="16915C"/>
            </a:solidFill>
            <a:prstDash val="solid"/>
          </a:ln>
        </p:spPr>
      </p:sp>
      <p:sp>
        <p:nvSpPr>
          <p:cNvPr id="5" name="Text 3"/>
          <p:cNvSpPr txBox="1"/>
          <p:nvPr/>
        </p:nvSpPr>
        <p:spPr>
          <a:xfrm>
            <a:off x="822960" y="1554480"/>
            <a:ext cx="3108960" cy="457200"/>
          </a:xfrm>
          <a:prstGeom prst="rect">
            <a:avLst/>
          </a:prstGeom>
          <a:noFill/>
          <a:ln/>
        </p:spPr>
        <p:txBody>
          <a:bodyPr wrap="square" lIns="0" tIns="0" rIns="0" bIns="0" rtlCol="0" anchor="t"/>
          <a:lstStyle/>
          <a:p>
            <a:pPr indent="0" marL="0">
              <a:buNone/>
            </a:pPr>
            <a:r>
              <a:rPr lang="en-US" sz="1800" b="1" dirty="0">
                <a:solidFill>
                  <a:srgbClr val="16915C"/>
                </a:solidFill>
                <a:latin typeface="Georgia" pitchFamily="34" charset="0"/>
                <a:ea typeface="Georgia" pitchFamily="34" charset="-122"/>
                <a:cs typeface="Georgia" pitchFamily="34" charset="-120"/>
              </a:rPr>
              <a:t>What works</a:t>
            </a:r>
            <a:endParaRPr lang="en-US" sz="1800" dirty="0"/>
          </a:p>
        </p:txBody>
      </p:sp>
      <p:sp>
        <p:nvSpPr>
          <p:cNvPr id="6" name="Text 4"/>
          <p:cNvSpPr txBox="1"/>
          <p:nvPr/>
        </p:nvSpPr>
        <p:spPr>
          <a:xfrm>
            <a:off x="822960" y="2057400"/>
            <a:ext cx="3108960" cy="3657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Beats simple baselines clearly</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Intervals are well calibrated (about 90%)</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Reasons are explainable per forecast</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Pipeline is reproducible and tested (7 tests)</a:t>
            </a:r>
            <a:endParaRPr lang="en-US" sz="1500" dirty="0"/>
          </a:p>
        </p:txBody>
      </p:sp>
      <p:sp>
        <p:nvSpPr>
          <p:cNvPr id="7" name="modest card"/>
          <p:cNvSpPr/>
          <p:nvPr/>
        </p:nvSpPr>
        <p:spPr>
          <a:xfrm>
            <a:off x="4343400" y="1371600"/>
            <a:ext cx="3566160" cy="4480560"/>
          </a:xfrm>
          <a:prstGeom prst="roundRect">
            <a:avLst>
              <a:gd name="adj" fmla="val 3077"/>
            </a:avLst>
          </a:prstGeom>
          <a:solidFill>
            <a:srgbClr val="F2F5FA"/>
          </a:solidFill>
          <a:ln w="12700">
            <a:solidFill>
              <a:srgbClr val="D8E0E8"/>
            </a:solidFill>
            <a:prstDash val="solid"/>
          </a:ln>
        </p:spPr>
      </p:sp>
      <p:sp>
        <p:nvSpPr>
          <p:cNvPr id="8" name="modest accent"/>
          <p:cNvSpPr/>
          <p:nvPr/>
        </p:nvSpPr>
        <p:spPr>
          <a:xfrm>
            <a:off x="4343400" y="1600200"/>
            <a:ext cx="64008" cy="4023360"/>
          </a:xfrm>
          <a:prstGeom prst="rect">
            <a:avLst/>
          </a:prstGeom>
          <a:solidFill>
            <a:srgbClr val="D97706"/>
          </a:solidFill>
          <a:ln w="12700">
            <a:solidFill>
              <a:srgbClr val="D97706"/>
            </a:solidFill>
            <a:prstDash val="solid"/>
          </a:ln>
        </p:spPr>
      </p:sp>
      <p:sp>
        <p:nvSpPr>
          <p:cNvPr id="9" name="Text 7"/>
          <p:cNvSpPr txBox="1"/>
          <p:nvPr/>
        </p:nvSpPr>
        <p:spPr>
          <a:xfrm>
            <a:off x="4617720" y="1554480"/>
            <a:ext cx="3108960" cy="457200"/>
          </a:xfrm>
          <a:prstGeom prst="rect">
            <a:avLst/>
          </a:prstGeom>
          <a:noFill/>
          <a:ln/>
        </p:spPr>
        <p:txBody>
          <a:bodyPr wrap="square" lIns="0" tIns="0" rIns="0" bIns="0" rtlCol="0" anchor="t"/>
          <a:lstStyle/>
          <a:p>
            <a:pPr indent="0" marL="0">
              <a:buNone/>
            </a:pPr>
            <a:r>
              <a:rPr lang="en-US" sz="1800" b="1" dirty="0">
                <a:solidFill>
                  <a:srgbClr val="D97706"/>
                </a:solidFill>
                <a:latin typeface="Georgia" pitchFamily="34" charset="0"/>
                <a:ea typeface="Georgia" pitchFamily="34" charset="-122"/>
                <a:cs typeface="Georgia" pitchFamily="34" charset="-120"/>
              </a:rPr>
              <a:t>What is modest</a:t>
            </a:r>
            <a:endParaRPr lang="en-US" sz="1800" dirty="0"/>
          </a:p>
        </p:txBody>
      </p:sp>
      <p:sp>
        <p:nvSpPr>
          <p:cNvPr id="10" name="Text 8"/>
          <p:cNvSpPr txBox="1"/>
          <p:nvPr/>
        </p:nvSpPr>
        <p:spPr>
          <a:xfrm>
            <a:off x="4617720" y="2057400"/>
            <a:ext cx="3108960" cy="3657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EHR fusion gain is small: about 0.6 mg/dL at 60 min, better in 5 of 5 cohorts</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EHR carries 9% of SHAP importance</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Alert rule: 74% sensitivity, 70% precision, about 9 false-alert readings per patient-day</a:t>
            </a:r>
            <a:endParaRPr lang="en-US" sz="1500" dirty="0"/>
          </a:p>
        </p:txBody>
      </p:sp>
      <p:sp>
        <p:nvSpPr>
          <p:cNvPr id="11" name="unproven card"/>
          <p:cNvSpPr/>
          <p:nvPr/>
        </p:nvSpPr>
        <p:spPr>
          <a:xfrm>
            <a:off x="8138160" y="1371600"/>
            <a:ext cx="3474720" cy="4480560"/>
          </a:xfrm>
          <a:prstGeom prst="roundRect">
            <a:avLst>
              <a:gd name="adj" fmla="val 3158"/>
            </a:avLst>
          </a:prstGeom>
          <a:solidFill>
            <a:srgbClr val="F2F5FA"/>
          </a:solidFill>
          <a:ln w="12700">
            <a:solidFill>
              <a:srgbClr val="D8E0E8"/>
            </a:solidFill>
            <a:prstDash val="solid"/>
          </a:ln>
        </p:spPr>
      </p:sp>
      <p:sp>
        <p:nvSpPr>
          <p:cNvPr id="12" name="unproven accent"/>
          <p:cNvSpPr/>
          <p:nvPr/>
        </p:nvSpPr>
        <p:spPr>
          <a:xfrm>
            <a:off x="8138160" y="1600200"/>
            <a:ext cx="64008" cy="4023360"/>
          </a:xfrm>
          <a:prstGeom prst="rect">
            <a:avLst/>
          </a:prstGeom>
          <a:solidFill>
            <a:srgbClr val="DC2626"/>
          </a:solidFill>
          <a:ln w="12700">
            <a:solidFill>
              <a:srgbClr val="DC2626"/>
            </a:solidFill>
            <a:prstDash val="solid"/>
          </a:ln>
        </p:spPr>
      </p:sp>
      <p:sp>
        <p:nvSpPr>
          <p:cNvPr id="13" name="Text 11"/>
          <p:cNvSpPr txBox="1"/>
          <p:nvPr/>
        </p:nvSpPr>
        <p:spPr>
          <a:xfrm>
            <a:off x="8412480" y="1554480"/>
            <a:ext cx="3017520" cy="457200"/>
          </a:xfrm>
          <a:prstGeom prst="rect">
            <a:avLst/>
          </a:prstGeom>
          <a:noFill/>
          <a:ln/>
        </p:spPr>
        <p:txBody>
          <a:bodyPr wrap="square" lIns="0" tIns="0" rIns="0" bIns="0" rtlCol="0" anchor="t"/>
          <a:lstStyle/>
          <a:p>
            <a:pPr indent="0" marL="0">
              <a:buNone/>
            </a:pPr>
            <a:r>
              <a:rPr lang="en-US" sz="1800" b="1" dirty="0">
                <a:solidFill>
                  <a:srgbClr val="DC2626"/>
                </a:solidFill>
                <a:latin typeface="Georgia" pitchFamily="34" charset="0"/>
                <a:ea typeface="Georgia" pitchFamily="34" charset="-122"/>
                <a:cs typeface="Georgia" pitchFamily="34" charset="-120"/>
              </a:rPr>
              <a:t>Not proven</a:t>
            </a:r>
            <a:endParaRPr lang="en-US" sz="1800" dirty="0"/>
          </a:p>
        </p:txBody>
      </p:sp>
      <p:sp>
        <p:nvSpPr>
          <p:cNvPr id="14" name="Text 12"/>
          <p:cNvSpPr txBox="1"/>
          <p:nvPr/>
        </p:nvSpPr>
        <p:spPr>
          <a:xfrm>
            <a:off x="8412480" y="2057400"/>
            <a:ext cx="3017520" cy="3657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Clinical validity: all data is synthetic</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Gain depends on assumed EHR-physiology links</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Real CGM data is noisier</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No patient or clinician study yet</a:t>
            </a:r>
            <a:endParaRPr lang="en-US" sz="1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Demo: a normal reading, a low is coming</a:t>
            </a:r>
            <a:endParaRPr lang="en-US" sz="3000" dirty="0"/>
          </a:p>
        </p:txBody>
      </p:sp>
      <p:pic>
        <p:nvPicPr>
          <p:cNvPr id="3" name="Image 0" descr="Forecast, dynamic-only comparison, SHAP reasons and what-if for a held-out patient">    </p:cNvPr>
          <p:cNvPicPr>
            <a:picLocks noChangeAspect="1"/>
          </p:cNvPicPr>
          <p:nvPr/>
        </p:nvPicPr>
        <p:blipFill>
          <a:blip r:embed="rId1"/>
          <a:stretch>
            <a:fillRect/>
          </a:stretch>
        </p:blipFill>
        <p:spPr>
          <a:xfrm>
            <a:off x="548640" y="1280160"/>
            <a:ext cx="11064240" cy="3915039"/>
          </a:xfrm>
          <a:prstGeom prst="rect">
            <a:avLst/>
          </a:prstGeom>
        </p:spPr>
      </p:pic>
      <p:sp>
        <p:nvSpPr>
          <p:cNvPr id="4" name="Text 1"/>
          <p:cNvSpPr txBox="1"/>
          <p:nvPr/>
        </p:nvSpPr>
        <p:spPr>
          <a:xfrm>
            <a:off x="548640" y="5394960"/>
            <a:ext cx="11064240" cy="914400"/>
          </a:xfrm>
          <a:prstGeom prst="rect">
            <a:avLst/>
          </a:prstGeom>
          <a:noFill/>
          <a:ln/>
        </p:spPr>
        <p:txBody>
          <a:bodyPr wrap="square" lIns="0" tIns="0" rIns="0" bIns="0" rtlCol="0" anchor="t"/>
          <a:lstStyle/>
          <a:p>
            <a:pPr indent="0" marL="0">
              <a:buNone/>
            </a:pPr>
            <a:r>
              <a:rPr lang="en-US" sz="1600" dirty="0">
                <a:solidFill>
                  <a:srgbClr val="0F1B2D"/>
                </a:solidFill>
                <a:latin typeface="Calibri" pitchFamily="34" charset="0"/>
                <a:ea typeface="Calibri" pitchFamily="34" charset="-122"/>
                <a:cs typeface="Calibri" pitchFamily="34" charset="-120"/>
              </a:rPr>
              <a:t>Held-out patient SYN-049: glucose 100 mg/dL now, actual 63 an hour later. Fused forecast 69 warns; the dynamic-only model says 71 and stays quiet. Bars show why. The green line is a labelled what-if: 15 g of carbs.</a:t>
            </a:r>
            <a:endParaRPr lang="en-US" sz="16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The clinician and patient dashboard</a:t>
            </a:r>
            <a:endParaRPr lang="en-US" sz="3000" dirty="0"/>
          </a:p>
        </p:txBody>
      </p:sp>
      <p:sp>
        <p:nvSpPr>
          <p:cNvPr id="3" name="tour0 card"/>
          <p:cNvSpPr/>
          <p:nvPr/>
        </p:nvSpPr>
        <p:spPr>
          <a:xfrm>
            <a:off x="548640" y="1371600"/>
            <a:ext cx="5440680" cy="2057400"/>
          </a:xfrm>
          <a:prstGeom prst="roundRect">
            <a:avLst>
              <a:gd name="adj" fmla="val 5333"/>
            </a:avLst>
          </a:prstGeom>
          <a:solidFill>
            <a:srgbClr val="F2F5FA"/>
          </a:solidFill>
          <a:ln w="12700">
            <a:solidFill>
              <a:srgbClr val="D8E0E8"/>
            </a:solidFill>
            <a:prstDash val="solid"/>
          </a:ln>
        </p:spPr>
      </p:sp>
      <p:sp>
        <p:nvSpPr>
          <p:cNvPr id="4" name="tour0 accent"/>
          <p:cNvSpPr/>
          <p:nvPr/>
        </p:nvSpPr>
        <p:spPr>
          <a:xfrm>
            <a:off x="548640" y="1600200"/>
            <a:ext cx="64008" cy="1600200"/>
          </a:xfrm>
          <a:prstGeom prst="rect">
            <a:avLst/>
          </a:prstGeom>
          <a:solidFill>
            <a:srgbClr val="0D9488"/>
          </a:solidFill>
          <a:ln w="12700">
            <a:solidFill>
              <a:srgbClr val="0D9488"/>
            </a:solidFill>
            <a:prstDash val="solid"/>
          </a:ln>
        </p:spPr>
      </p:sp>
      <p:sp>
        <p:nvSpPr>
          <p:cNvPr id="5" name="Text 3"/>
          <p:cNvSpPr txBox="1"/>
          <p:nvPr/>
        </p:nvSpPr>
        <p:spPr>
          <a:xfrm>
            <a:off x="822960" y="1554480"/>
            <a:ext cx="4983480" cy="457200"/>
          </a:xfrm>
          <a:prstGeom prst="rect">
            <a:avLst/>
          </a:prstGeom>
          <a:noFill/>
          <a:ln/>
        </p:spPr>
        <p:txBody>
          <a:bodyPr wrap="square" lIns="0" tIns="0" rIns="0" bIns="0" rtlCol="0" anchor="t"/>
          <a:lstStyle/>
          <a:p>
            <a:pPr indent="0" marL="0">
              <a:buNone/>
            </a:pPr>
            <a:r>
              <a:rPr lang="en-US" sz="1800" b="1" dirty="0">
                <a:solidFill>
                  <a:srgbClr val="0D9488"/>
                </a:solidFill>
                <a:latin typeface="Georgia" pitchFamily="34" charset="0"/>
                <a:ea typeface="Georgia" pitchFamily="34" charset="-122"/>
                <a:cs typeface="Georgia" pitchFamily="34" charset="-120"/>
              </a:rPr>
              <a:t>1. Play the live stream</a:t>
            </a:r>
            <a:endParaRPr lang="en-US" sz="1800" dirty="0"/>
          </a:p>
        </p:txBody>
      </p:sp>
      <p:sp>
        <p:nvSpPr>
          <p:cNvPr id="6" name="Text 4"/>
          <p:cNvSpPr txBox="1"/>
          <p:nvPr/>
        </p:nvSpPr>
        <p:spPr>
          <a:xfrm>
            <a:off x="822960" y="2057400"/>
            <a:ext cx="4983480" cy="123444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Readings arrive every 5 minutes. The gauge, trend and forecast cone update live.</a:t>
            </a:r>
            <a:endParaRPr lang="en-US" sz="1500" dirty="0"/>
          </a:p>
        </p:txBody>
      </p:sp>
      <p:sp>
        <p:nvSpPr>
          <p:cNvPr id="7" name="tour1 card"/>
          <p:cNvSpPr/>
          <p:nvPr/>
        </p:nvSpPr>
        <p:spPr>
          <a:xfrm>
            <a:off x="6172200" y="1371600"/>
            <a:ext cx="5440680" cy="2057400"/>
          </a:xfrm>
          <a:prstGeom prst="roundRect">
            <a:avLst>
              <a:gd name="adj" fmla="val 5333"/>
            </a:avLst>
          </a:prstGeom>
          <a:solidFill>
            <a:srgbClr val="F2F5FA"/>
          </a:solidFill>
          <a:ln w="12700">
            <a:solidFill>
              <a:srgbClr val="D8E0E8"/>
            </a:solidFill>
            <a:prstDash val="solid"/>
          </a:ln>
        </p:spPr>
      </p:sp>
      <p:sp>
        <p:nvSpPr>
          <p:cNvPr id="8" name="tour1 accent"/>
          <p:cNvSpPr/>
          <p:nvPr/>
        </p:nvSpPr>
        <p:spPr>
          <a:xfrm>
            <a:off x="6172200" y="1600200"/>
            <a:ext cx="64008" cy="1600200"/>
          </a:xfrm>
          <a:prstGeom prst="rect">
            <a:avLst/>
          </a:prstGeom>
          <a:solidFill>
            <a:srgbClr val="D97706"/>
          </a:solidFill>
          <a:ln w="12700">
            <a:solidFill>
              <a:srgbClr val="D97706"/>
            </a:solidFill>
            <a:prstDash val="solid"/>
          </a:ln>
        </p:spPr>
      </p:sp>
      <p:sp>
        <p:nvSpPr>
          <p:cNvPr id="9" name="Text 7"/>
          <p:cNvSpPr txBox="1"/>
          <p:nvPr/>
        </p:nvSpPr>
        <p:spPr>
          <a:xfrm>
            <a:off x="6446520" y="1554480"/>
            <a:ext cx="4983480" cy="457200"/>
          </a:xfrm>
          <a:prstGeom prst="rect">
            <a:avLst/>
          </a:prstGeom>
          <a:noFill/>
          <a:ln/>
        </p:spPr>
        <p:txBody>
          <a:bodyPr wrap="square" lIns="0" tIns="0" rIns="0" bIns="0" rtlCol="0" anchor="t"/>
          <a:lstStyle/>
          <a:p>
            <a:pPr indent="0" marL="0">
              <a:buNone/>
            </a:pPr>
            <a:r>
              <a:rPr lang="en-US" sz="1800" b="1" dirty="0">
                <a:solidFill>
                  <a:srgbClr val="D97706"/>
                </a:solidFill>
                <a:latin typeface="Georgia" pitchFamily="34" charset="0"/>
                <a:ea typeface="Georgia" pitchFamily="34" charset="-122"/>
                <a:cs typeface="Georgia" pitchFamily="34" charset="-120"/>
              </a:rPr>
              <a:t>2. Read the warning</a:t>
            </a:r>
            <a:endParaRPr lang="en-US" sz="1800" dirty="0"/>
          </a:p>
        </p:txBody>
      </p:sp>
      <p:sp>
        <p:nvSpPr>
          <p:cNvPr id="10" name="Text 8"/>
          <p:cNvSpPr txBox="1"/>
          <p:nvPr/>
        </p:nvSpPr>
        <p:spPr>
          <a:xfrm>
            <a:off x="6446520" y="2057400"/>
            <a:ext cx="4983480" cy="123444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Plain-language headline, time to predicted low, and the 1-hour range.</a:t>
            </a:r>
            <a:endParaRPr lang="en-US" sz="1500" dirty="0"/>
          </a:p>
        </p:txBody>
      </p:sp>
      <p:sp>
        <p:nvSpPr>
          <p:cNvPr id="11" name="tour2 card"/>
          <p:cNvSpPr/>
          <p:nvPr/>
        </p:nvSpPr>
        <p:spPr>
          <a:xfrm>
            <a:off x="548640" y="3611880"/>
            <a:ext cx="5440680" cy="2057400"/>
          </a:xfrm>
          <a:prstGeom prst="roundRect">
            <a:avLst>
              <a:gd name="adj" fmla="val 5333"/>
            </a:avLst>
          </a:prstGeom>
          <a:solidFill>
            <a:srgbClr val="F2F5FA"/>
          </a:solidFill>
          <a:ln w="12700">
            <a:solidFill>
              <a:srgbClr val="D8E0E8"/>
            </a:solidFill>
            <a:prstDash val="solid"/>
          </a:ln>
        </p:spPr>
      </p:sp>
      <p:sp>
        <p:nvSpPr>
          <p:cNvPr id="12" name="tour2 accent"/>
          <p:cNvSpPr/>
          <p:nvPr/>
        </p:nvSpPr>
        <p:spPr>
          <a:xfrm>
            <a:off x="548640" y="3840480"/>
            <a:ext cx="64008" cy="1600200"/>
          </a:xfrm>
          <a:prstGeom prst="rect">
            <a:avLst/>
          </a:prstGeom>
          <a:solidFill>
            <a:srgbClr val="7C3AED"/>
          </a:solidFill>
          <a:ln w="12700">
            <a:solidFill>
              <a:srgbClr val="7C3AED"/>
            </a:solidFill>
            <a:prstDash val="solid"/>
          </a:ln>
        </p:spPr>
      </p:sp>
      <p:sp>
        <p:nvSpPr>
          <p:cNvPr id="13" name="Text 11"/>
          <p:cNvSpPr txBox="1"/>
          <p:nvPr/>
        </p:nvSpPr>
        <p:spPr>
          <a:xfrm>
            <a:off x="822960" y="3794760"/>
            <a:ext cx="4983480" cy="457200"/>
          </a:xfrm>
          <a:prstGeom prst="rect">
            <a:avLst/>
          </a:prstGeom>
          <a:noFill/>
          <a:ln/>
        </p:spPr>
        <p:txBody>
          <a:bodyPr wrap="square" lIns="0" tIns="0" rIns="0" bIns="0" rtlCol="0" anchor="t"/>
          <a:lstStyle/>
          <a:p>
            <a:pPr indent="0" marL="0">
              <a:buNone/>
            </a:pPr>
            <a:r>
              <a:rPr lang="en-US" sz="1800" b="1" dirty="0">
                <a:solidFill>
                  <a:srgbClr val="7C3AED"/>
                </a:solidFill>
                <a:latin typeface="Georgia" pitchFamily="34" charset="0"/>
                <a:ea typeface="Georgia" pitchFamily="34" charset="-122"/>
                <a:cs typeface="Georgia" pitchFamily="34" charset="-120"/>
              </a:rPr>
              <a:t>3. See what is driving it</a:t>
            </a:r>
            <a:endParaRPr lang="en-US" sz="1800" dirty="0"/>
          </a:p>
        </p:txBody>
      </p:sp>
      <p:sp>
        <p:nvSpPr>
          <p:cNvPr id="14" name="Text 12"/>
          <p:cNvSpPr txBox="1"/>
          <p:nvPr/>
        </p:nvSpPr>
        <p:spPr>
          <a:xfrm>
            <a:off x="822960" y="4297680"/>
            <a:ext cx="4983480" cy="123444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Reasons such as insulin still active or recent food, with mg/dL impact.</a:t>
            </a:r>
            <a:endParaRPr lang="en-US" sz="1500" dirty="0"/>
          </a:p>
        </p:txBody>
      </p:sp>
      <p:sp>
        <p:nvSpPr>
          <p:cNvPr id="15" name="tour3 card"/>
          <p:cNvSpPr/>
          <p:nvPr/>
        </p:nvSpPr>
        <p:spPr>
          <a:xfrm>
            <a:off x="6172200" y="3611880"/>
            <a:ext cx="5440680" cy="2057400"/>
          </a:xfrm>
          <a:prstGeom prst="roundRect">
            <a:avLst>
              <a:gd name="adj" fmla="val 5333"/>
            </a:avLst>
          </a:prstGeom>
          <a:solidFill>
            <a:srgbClr val="F2F5FA"/>
          </a:solidFill>
          <a:ln w="12700">
            <a:solidFill>
              <a:srgbClr val="D8E0E8"/>
            </a:solidFill>
            <a:prstDash val="solid"/>
          </a:ln>
        </p:spPr>
      </p:sp>
      <p:sp>
        <p:nvSpPr>
          <p:cNvPr id="16" name="tour3 accent"/>
          <p:cNvSpPr/>
          <p:nvPr/>
        </p:nvSpPr>
        <p:spPr>
          <a:xfrm>
            <a:off x="6172200" y="3840480"/>
            <a:ext cx="64008" cy="1600200"/>
          </a:xfrm>
          <a:prstGeom prst="rect">
            <a:avLst/>
          </a:prstGeom>
          <a:solidFill>
            <a:srgbClr val="2563EB"/>
          </a:solidFill>
          <a:ln w="12700">
            <a:solidFill>
              <a:srgbClr val="2563EB"/>
            </a:solidFill>
            <a:prstDash val="solid"/>
          </a:ln>
        </p:spPr>
      </p:sp>
      <p:sp>
        <p:nvSpPr>
          <p:cNvPr id="17" name="Text 15"/>
          <p:cNvSpPr txBox="1"/>
          <p:nvPr/>
        </p:nvSpPr>
        <p:spPr>
          <a:xfrm>
            <a:off x="6446520" y="3794760"/>
            <a:ext cx="4983480" cy="457200"/>
          </a:xfrm>
          <a:prstGeom prst="rect">
            <a:avLst/>
          </a:prstGeom>
          <a:noFill/>
          <a:ln/>
        </p:spPr>
        <p:txBody>
          <a:bodyPr wrap="square" lIns="0" tIns="0" rIns="0" bIns="0" rtlCol="0" anchor="t"/>
          <a:lstStyle/>
          <a:p>
            <a:pPr indent="0" marL="0">
              <a:buNone/>
            </a:pPr>
            <a:r>
              <a:rPr lang="en-US" sz="1800" b="1" dirty="0">
                <a:solidFill>
                  <a:srgbClr val="2563EB"/>
                </a:solidFill>
                <a:latin typeface="Georgia" pitchFamily="34" charset="0"/>
                <a:ea typeface="Georgia" pitchFamily="34" charset="-122"/>
                <a:cs typeface="Georgia" pitchFamily="34" charset="-120"/>
              </a:rPr>
              <a:t>4. Try a what-if</a:t>
            </a:r>
            <a:endParaRPr lang="en-US" sz="1800" dirty="0"/>
          </a:p>
        </p:txBody>
      </p:sp>
      <p:sp>
        <p:nvSpPr>
          <p:cNvPr id="18" name="Text 16"/>
          <p:cNvSpPr txBox="1"/>
          <p:nvPr/>
        </p:nvSpPr>
        <p:spPr>
          <a:xfrm>
            <a:off x="6446520" y="4297680"/>
            <a:ext cx="4983480" cy="123444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Snack, meal, half the active insulin, or a walk. The model recalculates; labelled hypothetical.</a:t>
            </a:r>
            <a:endParaRPr lang="en-US" sz="1500" dirty="0"/>
          </a:p>
        </p:txBody>
      </p:sp>
      <p:sp>
        <p:nvSpPr>
          <p:cNvPr id="19" name="Text 17"/>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500" dirty="0">
                <a:solidFill>
                  <a:srgbClr val="56677A"/>
                </a:solidFill>
                <a:latin typeface="Calibri" pitchFamily="34" charset="0"/>
                <a:ea typeface="Calibri" pitchFamily="34" charset="-122"/>
                <a:cs typeface="Calibri" pitchFamily="34" charset="-120"/>
              </a:rPr>
              <a:t>Also: load your own CSV, see time in range today, a trust panel with accuracy, FHIR export, and a REST API.</a:t>
            </a:r>
            <a:endParaRPr lang="en-US" sz="1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Responsible by design</a:t>
            </a:r>
            <a:endParaRPr lang="en-US" sz="3000" dirty="0"/>
          </a:p>
        </p:txBody>
      </p:sp>
      <p:sp>
        <p:nvSpPr>
          <p:cNvPr id="3" name="rd0 card"/>
          <p:cNvSpPr/>
          <p:nvPr/>
        </p:nvSpPr>
        <p:spPr>
          <a:xfrm>
            <a:off x="548640" y="1371600"/>
            <a:ext cx="5440680" cy="2240280"/>
          </a:xfrm>
          <a:prstGeom prst="roundRect">
            <a:avLst>
              <a:gd name="adj" fmla="val 4898"/>
            </a:avLst>
          </a:prstGeom>
          <a:solidFill>
            <a:srgbClr val="F2F5FA"/>
          </a:solidFill>
          <a:ln w="12700">
            <a:solidFill>
              <a:srgbClr val="D8E0E8"/>
            </a:solidFill>
            <a:prstDash val="solid"/>
          </a:ln>
        </p:spPr>
      </p:sp>
      <p:sp>
        <p:nvSpPr>
          <p:cNvPr id="4" name="rd0 accent"/>
          <p:cNvSpPr/>
          <p:nvPr/>
        </p:nvSpPr>
        <p:spPr>
          <a:xfrm>
            <a:off x="548640" y="1600200"/>
            <a:ext cx="64008" cy="1783080"/>
          </a:xfrm>
          <a:prstGeom prst="rect">
            <a:avLst/>
          </a:prstGeom>
          <a:solidFill>
            <a:srgbClr val="7C3AED"/>
          </a:solidFill>
          <a:ln w="12700">
            <a:solidFill>
              <a:srgbClr val="7C3AED"/>
            </a:solidFill>
            <a:prstDash val="solid"/>
          </a:ln>
        </p:spPr>
      </p:sp>
      <p:sp>
        <p:nvSpPr>
          <p:cNvPr id="5" name="Text 3"/>
          <p:cNvSpPr txBox="1"/>
          <p:nvPr/>
        </p:nvSpPr>
        <p:spPr>
          <a:xfrm>
            <a:off x="822960" y="1554480"/>
            <a:ext cx="4983480" cy="457200"/>
          </a:xfrm>
          <a:prstGeom prst="rect">
            <a:avLst/>
          </a:prstGeom>
          <a:noFill/>
          <a:ln/>
        </p:spPr>
        <p:txBody>
          <a:bodyPr wrap="square" lIns="0" tIns="0" rIns="0" bIns="0" rtlCol="0" anchor="t"/>
          <a:lstStyle/>
          <a:p>
            <a:pPr indent="0" marL="0">
              <a:buNone/>
            </a:pPr>
            <a:r>
              <a:rPr lang="en-US" sz="1800" b="1" dirty="0">
                <a:solidFill>
                  <a:srgbClr val="7C3AED"/>
                </a:solidFill>
                <a:latin typeface="Georgia" pitchFamily="34" charset="0"/>
                <a:ea typeface="Georgia" pitchFamily="34" charset="-122"/>
                <a:cs typeface="Georgia" pitchFamily="34" charset="-120"/>
              </a:rPr>
              <a:t>R1  Explain every alert</a:t>
            </a:r>
            <a:endParaRPr lang="en-US" sz="1800" dirty="0"/>
          </a:p>
        </p:txBody>
      </p:sp>
      <p:sp>
        <p:nvSpPr>
          <p:cNvPr id="6" name="Text 4"/>
          <p:cNvSpPr txBox="1"/>
          <p:nvPr/>
        </p:nvSpPr>
        <p:spPr>
          <a:xfrm>
            <a:off x="822960" y="2057400"/>
            <a:ext cx="4983480" cy="141732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SHAP drivers and plain-language text on each forecast.</a:t>
            </a:r>
            <a:endParaRPr lang="en-US" sz="1500" dirty="0"/>
          </a:p>
        </p:txBody>
      </p:sp>
      <p:sp>
        <p:nvSpPr>
          <p:cNvPr id="7" name="rd1 card"/>
          <p:cNvSpPr/>
          <p:nvPr/>
        </p:nvSpPr>
        <p:spPr>
          <a:xfrm>
            <a:off x="6172200" y="1371600"/>
            <a:ext cx="5440680" cy="2240280"/>
          </a:xfrm>
          <a:prstGeom prst="roundRect">
            <a:avLst>
              <a:gd name="adj" fmla="val 4898"/>
            </a:avLst>
          </a:prstGeom>
          <a:solidFill>
            <a:srgbClr val="F2F5FA"/>
          </a:solidFill>
          <a:ln w="12700">
            <a:solidFill>
              <a:srgbClr val="D8E0E8"/>
            </a:solidFill>
            <a:prstDash val="solid"/>
          </a:ln>
        </p:spPr>
      </p:sp>
      <p:sp>
        <p:nvSpPr>
          <p:cNvPr id="8" name="rd1 accent"/>
          <p:cNvSpPr/>
          <p:nvPr/>
        </p:nvSpPr>
        <p:spPr>
          <a:xfrm>
            <a:off x="6172200" y="1600200"/>
            <a:ext cx="64008" cy="1783080"/>
          </a:xfrm>
          <a:prstGeom prst="rect">
            <a:avLst/>
          </a:prstGeom>
          <a:solidFill>
            <a:srgbClr val="2563EB"/>
          </a:solidFill>
          <a:ln w="12700">
            <a:solidFill>
              <a:srgbClr val="2563EB"/>
            </a:solidFill>
            <a:prstDash val="solid"/>
          </a:ln>
        </p:spPr>
      </p:sp>
      <p:sp>
        <p:nvSpPr>
          <p:cNvPr id="9" name="Text 7"/>
          <p:cNvSpPr txBox="1"/>
          <p:nvPr/>
        </p:nvSpPr>
        <p:spPr>
          <a:xfrm>
            <a:off x="6446520" y="1554480"/>
            <a:ext cx="4983480" cy="457200"/>
          </a:xfrm>
          <a:prstGeom prst="rect">
            <a:avLst/>
          </a:prstGeom>
          <a:noFill/>
          <a:ln/>
        </p:spPr>
        <p:txBody>
          <a:bodyPr wrap="square" lIns="0" tIns="0" rIns="0" bIns="0" rtlCol="0" anchor="t"/>
          <a:lstStyle/>
          <a:p>
            <a:pPr indent="0" marL="0">
              <a:buNone/>
            </a:pPr>
            <a:r>
              <a:rPr lang="en-US" sz="1800" b="1" dirty="0">
                <a:solidFill>
                  <a:srgbClr val="2563EB"/>
                </a:solidFill>
                <a:latin typeface="Georgia" pitchFamily="34" charset="0"/>
                <a:ea typeface="Georgia" pitchFamily="34" charset="-122"/>
                <a:cs typeface="Georgia" pitchFamily="34" charset="-120"/>
              </a:rPr>
              <a:t>R2  Show uncertainty</a:t>
            </a:r>
            <a:endParaRPr lang="en-US" sz="1800" dirty="0"/>
          </a:p>
        </p:txBody>
      </p:sp>
      <p:sp>
        <p:nvSpPr>
          <p:cNvPr id="10" name="Text 8"/>
          <p:cNvSpPr txBox="1"/>
          <p:nvPr/>
        </p:nvSpPr>
        <p:spPr>
          <a:xfrm>
            <a:off x="6446520" y="2057400"/>
            <a:ext cx="4983480" cy="141732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Calibrated 90% interval; wide band means low confidence.</a:t>
            </a:r>
            <a:endParaRPr lang="en-US" sz="1500" dirty="0"/>
          </a:p>
        </p:txBody>
      </p:sp>
      <p:sp>
        <p:nvSpPr>
          <p:cNvPr id="11" name="rd2 card"/>
          <p:cNvSpPr/>
          <p:nvPr/>
        </p:nvSpPr>
        <p:spPr>
          <a:xfrm>
            <a:off x="548640" y="3794760"/>
            <a:ext cx="5440680" cy="2240280"/>
          </a:xfrm>
          <a:prstGeom prst="roundRect">
            <a:avLst>
              <a:gd name="adj" fmla="val 4898"/>
            </a:avLst>
          </a:prstGeom>
          <a:solidFill>
            <a:srgbClr val="F2F5FA"/>
          </a:solidFill>
          <a:ln w="12700">
            <a:solidFill>
              <a:srgbClr val="D8E0E8"/>
            </a:solidFill>
            <a:prstDash val="solid"/>
          </a:ln>
        </p:spPr>
      </p:sp>
      <p:sp>
        <p:nvSpPr>
          <p:cNvPr id="12" name="rd2 accent"/>
          <p:cNvSpPr/>
          <p:nvPr/>
        </p:nvSpPr>
        <p:spPr>
          <a:xfrm>
            <a:off x="548640" y="4023360"/>
            <a:ext cx="64008" cy="1783080"/>
          </a:xfrm>
          <a:prstGeom prst="rect">
            <a:avLst/>
          </a:prstGeom>
          <a:solidFill>
            <a:srgbClr val="DC2626"/>
          </a:solidFill>
          <a:ln w="12700">
            <a:solidFill>
              <a:srgbClr val="DC2626"/>
            </a:solidFill>
            <a:prstDash val="solid"/>
          </a:ln>
        </p:spPr>
      </p:sp>
      <p:sp>
        <p:nvSpPr>
          <p:cNvPr id="13" name="Text 11"/>
          <p:cNvSpPr txBox="1"/>
          <p:nvPr/>
        </p:nvSpPr>
        <p:spPr>
          <a:xfrm>
            <a:off x="822960" y="3977640"/>
            <a:ext cx="4983480" cy="457200"/>
          </a:xfrm>
          <a:prstGeom prst="rect">
            <a:avLst/>
          </a:prstGeom>
          <a:noFill/>
          <a:ln/>
        </p:spPr>
        <p:txBody>
          <a:bodyPr wrap="square" lIns="0" tIns="0" rIns="0" bIns="0" rtlCol="0" anchor="t"/>
          <a:lstStyle/>
          <a:p>
            <a:pPr indent="0" marL="0">
              <a:buNone/>
            </a:pPr>
            <a:r>
              <a:rPr lang="en-US" sz="1800" b="1" dirty="0">
                <a:solidFill>
                  <a:srgbClr val="DC2626"/>
                </a:solidFill>
                <a:latin typeface="Georgia" pitchFamily="34" charset="0"/>
                <a:ea typeface="Georgia" pitchFamily="34" charset="-122"/>
                <a:cs typeface="Georgia" pitchFamily="34" charset="-120"/>
              </a:rPr>
              <a:t>R3  Never advise doses</a:t>
            </a:r>
            <a:endParaRPr lang="en-US" sz="1800" dirty="0"/>
          </a:p>
        </p:txBody>
      </p:sp>
      <p:sp>
        <p:nvSpPr>
          <p:cNvPr id="14" name="Text 12"/>
          <p:cNvSpPr txBox="1"/>
          <p:nvPr/>
        </p:nvSpPr>
        <p:spPr>
          <a:xfrm>
            <a:off x="822960" y="4480560"/>
            <a:ext cx="4983480" cy="141732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What-if is hypothetical and says so. Clinician decides.</a:t>
            </a:r>
            <a:endParaRPr lang="en-US" sz="1500" dirty="0"/>
          </a:p>
        </p:txBody>
      </p:sp>
      <p:sp>
        <p:nvSpPr>
          <p:cNvPr id="15" name="rd3 card"/>
          <p:cNvSpPr/>
          <p:nvPr/>
        </p:nvSpPr>
        <p:spPr>
          <a:xfrm>
            <a:off x="6172200" y="3794760"/>
            <a:ext cx="5440680" cy="2240280"/>
          </a:xfrm>
          <a:prstGeom prst="roundRect">
            <a:avLst>
              <a:gd name="adj" fmla="val 4898"/>
            </a:avLst>
          </a:prstGeom>
          <a:solidFill>
            <a:srgbClr val="F2F5FA"/>
          </a:solidFill>
          <a:ln w="12700">
            <a:solidFill>
              <a:srgbClr val="D8E0E8"/>
            </a:solidFill>
            <a:prstDash val="solid"/>
          </a:ln>
        </p:spPr>
      </p:sp>
      <p:sp>
        <p:nvSpPr>
          <p:cNvPr id="16" name="rd3 accent"/>
          <p:cNvSpPr/>
          <p:nvPr/>
        </p:nvSpPr>
        <p:spPr>
          <a:xfrm>
            <a:off x="6172200" y="4023360"/>
            <a:ext cx="64008" cy="1783080"/>
          </a:xfrm>
          <a:prstGeom prst="rect">
            <a:avLst/>
          </a:prstGeom>
          <a:solidFill>
            <a:srgbClr val="16915C"/>
          </a:solidFill>
          <a:ln w="12700">
            <a:solidFill>
              <a:srgbClr val="16915C"/>
            </a:solidFill>
            <a:prstDash val="solid"/>
          </a:ln>
        </p:spPr>
      </p:sp>
      <p:sp>
        <p:nvSpPr>
          <p:cNvPr id="17" name="Text 15"/>
          <p:cNvSpPr txBox="1"/>
          <p:nvPr/>
        </p:nvSpPr>
        <p:spPr>
          <a:xfrm>
            <a:off x="6446520" y="3977640"/>
            <a:ext cx="4983480" cy="457200"/>
          </a:xfrm>
          <a:prstGeom prst="rect">
            <a:avLst/>
          </a:prstGeom>
          <a:noFill/>
          <a:ln/>
        </p:spPr>
        <p:txBody>
          <a:bodyPr wrap="square" lIns="0" tIns="0" rIns="0" bIns="0" rtlCol="0" anchor="t"/>
          <a:lstStyle/>
          <a:p>
            <a:pPr indent="0" marL="0">
              <a:buNone/>
            </a:pPr>
            <a:r>
              <a:rPr lang="en-US" sz="1800" b="1" dirty="0">
                <a:solidFill>
                  <a:srgbClr val="16915C"/>
                </a:solidFill>
                <a:latin typeface="Georgia" pitchFamily="34" charset="0"/>
                <a:ea typeface="Georgia" pitchFamily="34" charset="-122"/>
                <a:cs typeface="Georgia" pitchFamily="34" charset="-120"/>
              </a:rPr>
              <a:t>R4  Work without real data</a:t>
            </a:r>
            <a:endParaRPr lang="en-US" sz="1800" dirty="0"/>
          </a:p>
        </p:txBody>
      </p:sp>
      <p:sp>
        <p:nvSpPr>
          <p:cNvPr id="18" name="Text 16"/>
          <p:cNvSpPr txBox="1"/>
          <p:nvPr/>
        </p:nvSpPr>
        <p:spPr>
          <a:xfrm>
            <a:off x="6446520" y="4480560"/>
            <a:ext cx="4983480" cy="1417320"/>
          </a:xfrm>
          <a:prstGeom prst="rect">
            <a:avLst/>
          </a:prstGeom>
          <a:noFill/>
          <a:ln/>
        </p:spPr>
        <p:txBody>
          <a:bodyPr wrap="square" lIns="0" tIns="0" rIns="0" bIns="0" rtlCol="0" anchor="t"/>
          <a:lstStyle/>
          <a:p>
            <a:pPr indent="0" marL="0">
              <a:spcAft>
                <a:spcPts val="600"/>
              </a:spcAft>
              <a:buNone/>
            </a:pPr>
            <a:r>
              <a:rPr lang="en-US" sz="1500" dirty="0">
                <a:solidFill>
                  <a:srgbClr val="0F1B2D"/>
                </a:solidFill>
                <a:latin typeface="Calibri" pitchFamily="34" charset="0"/>
                <a:ea typeface="Calibri" pitchFamily="34" charset="-122"/>
                <a:cs typeface="Calibri" pitchFamily="34" charset="-120"/>
              </a:rPr>
              <a:t>Synthetic EHR and sensors; local processing.</a:t>
            </a:r>
            <a:endParaRPr lang="en-US" sz="1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11064240" cy="868680"/>
          </a:xfrm>
          <a:prstGeom prst="rect">
            <a:avLst/>
          </a:prstGeom>
          <a:noFill/>
          <a:ln/>
        </p:spPr>
        <p:txBody>
          <a:bodyPr wrap="square" lIns="0" tIns="0" rIns="0" bIns="0" rtlCol="0" anchor="t"/>
          <a:lstStyle/>
          <a:p>
            <a:pPr indent="0" marL="0">
              <a:buNone/>
            </a:pPr>
            <a:r>
              <a:rPr lang="en-US" sz="3000" b="1" dirty="0">
                <a:solidFill>
                  <a:srgbClr val="0F1B2D"/>
                </a:solidFill>
                <a:latin typeface="Georgia" pitchFamily="34" charset="0"/>
                <a:ea typeface="Georgia" pitchFamily="34" charset="-122"/>
                <a:cs typeface="Georgia" pitchFamily="34" charset="-120"/>
              </a:rPr>
              <a:t>Impact and roadmap</a:t>
            </a:r>
            <a:endParaRPr lang="en-US" sz="3000" dirty="0"/>
          </a:p>
        </p:txBody>
      </p:sp>
      <p:sp>
        <p:nvSpPr>
          <p:cNvPr id="3" name="Text 1"/>
          <p:cNvSpPr txBox="1"/>
          <p:nvPr/>
        </p:nvSpPr>
        <p:spPr>
          <a:xfrm>
            <a:off x="548640" y="1371600"/>
            <a:ext cx="11064240" cy="457200"/>
          </a:xfrm>
          <a:prstGeom prst="rect">
            <a:avLst/>
          </a:prstGeom>
          <a:noFill/>
          <a:ln/>
        </p:spPr>
        <p:txBody>
          <a:bodyPr wrap="square" lIns="0" tIns="0" rIns="0" bIns="0" rtlCol="0" anchor="t"/>
          <a:lstStyle/>
          <a:p>
            <a:pPr indent="0" marL="0">
              <a:buNone/>
            </a:pPr>
            <a:r>
              <a:rPr lang="en-US" sz="2000" b="1" dirty="0">
                <a:solidFill>
                  <a:srgbClr val="0D9488"/>
                </a:solidFill>
                <a:latin typeface="Calibri" pitchFamily="34" charset="0"/>
                <a:ea typeface="Calibri" pitchFamily="34" charset="-122"/>
                <a:cs typeface="Calibri" pitchFamily="34" charset="-120"/>
              </a:rPr>
              <a:t>Readiness: TRL 4, an integrated prototype tested on synthetic data in a lab setting</a:t>
            </a:r>
            <a:endParaRPr lang="en-US" sz="2000" dirty="0"/>
          </a:p>
        </p:txBody>
      </p:sp>
      <p:sp>
        <p:nvSpPr>
          <p:cNvPr id="4" name="road0 card"/>
          <p:cNvSpPr/>
          <p:nvPr/>
        </p:nvSpPr>
        <p:spPr>
          <a:xfrm>
            <a:off x="548640" y="2103120"/>
            <a:ext cx="3566160" cy="3840480"/>
          </a:xfrm>
          <a:prstGeom prst="roundRect">
            <a:avLst>
              <a:gd name="adj" fmla="val 3077"/>
            </a:avLst>
          </a:prstGeom>
          <a:solidFill>
            <a:srgbClr val="F2F5FA"/>
          </a:solidFill>
          <a:ln w="12700">
            <a:solidFill>
              <a:srgbClr val="D8E0E8"/>
            </a:solidFill>
            <a:prstDash val="solid"/>
          </a:ln>
        </p:spPr>
      </p:sp>
      <p:sp>
        <p:nvSpPr>
          <p:cNvPr id="5" name="road0 accent"/>
          <p:cNvSpPr/>
          <p:nvPr/>
        </p:nvSpPr>
        <p:spPr>
          <a:xfrm>
            <a:off x="548640" y="2331720"/>
            <a:ext cx="64008" cy="3383280"/>
          </a:xfrm>
          <a:prstGeom prst="rect">
            <a:avLst/>
          </a:prstGeom>
          <a:solidFill>
            <a:srgbClr val="2563EB"/>
          </a:solidFill>
          <a:ln w="12700">
            <a:solidFill>
              <a:srgbClr val="2563EB"/>
            </a:solidFill>
            <a:prstDash val="solid"/>
          </a:ln>
        </p:spPr>
      </p:sp>
      <p:sp>
        <p:nvSpPr>
          <p:cNvPr id="6" name="Text 4"/>
          <p:cNvSpPr txBox="1"/>
          <p:nvPr/>
        </p:nvSpPr>
        <p:spPr>
          <a:xfrm>
            <a:off x="822960" y="2286000"/>
            <a:ext cx="3108960" cy="457200"/>
          </a:xfrm>
          <a:prstGeom prst="rect">
            <a:avLst/>
          </a:prstGeom>
          <a:noFill/>
          <a:ln/>
        </p:spPr>
        <p:txBody>
          <a:bodyPr wrap="square" lIns="0" tIns="0" rIns="0" bIns="0" rtlCol="0" anchor="t"/>
          <a:lstStyle/>
          <a:p>
            <a:pPr indent="0" marL="0">
              <a:buNone/>
            </a:pPr>
            <a:r>
              <a:rPr lang="en-US" sz="1800" b="1" dirty="0">
                <a:solidFill>
                  <a:srgbClr val="2563EB"/>
                </a:solidFill>
                <a:latin typeface="Georgia" pitchFamily="34" charset="0"/>
                <a:ea typeface="Georgia" pitchFamily="34" charset="-122"/>
                <a:cs typeface="Georgia" pitchFamily="34" charset="-120"/>
              </a:rPr>
              <a:t>Next 3 months</a:t>
            </a:r>
            <a:endParaRPr lang="en-US" sz="1800" dirty="0"/>
          </a:p>
        </p:txBody>
      </p:sp>
      <p:sp>
        <p:nvSpPr>
          <p:cNvPr id="7" name="Text 5"/>
          <p:cNvSpPr txBox="1"/>
          <p:nvPr/>
        </p:nvSpPr>
        <p:spPr>
          <a:xfrm>
            <a:off x="822960" y="2788920"/>
            <a:ext cx="310896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Train on open CGM data (licences first)</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LSTM / Temporal Fusion Transformer with cross-attention</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Reduce false alerts; per-patient thresholds</a:t>
            </a:r>
            <a:endParaRPr lang="en-US" sz="1500" dirty="0"/>
          </a:p>
        </p:txBody>
      </p:sp>
      <p:sp>
        <p:nvSpPr>
          <p:cNvPr id="8" name="road1 card"/>
          <p:cNvSpPr/>
          <p:nvPr/>
        </p:nvSpPr>
        <p:spPr>
          <a:xfrm>
            <a:off x="4297680" y="2103120"/>
            <a:ext cx="3566160" cy="3840480"/>
          </a:xfrm>
          <a:prstGeom prst="roundRect">
            <a:avLst>
              <a:gd name="adj" fmla="val 3077"/>
            </a:avLst>
          </a:prstGeom>
          <a:solidFill>
            <a:srgbClr val="F2F5FA"/>
          </a:solidFill>
          <a:ln w="12700">
            <a:solidFill>
              <a:srgbClr val="D8E0E8"/>
            </a:solidFill>
            <a:prstDash val="solid"/>
          </a:ln>
        </p:spPr>
      </p:sp>
      <p:sp>
        <p:nvSpPr>
          <p:cNvPr id="9" name="road1 accent"/>
          <p:cNvSpPr/>
          <p:nvPr/>
        </p:nvSpPr>
        <p:spPr>
          <a:xfrm>
            <a:off x="4297680" y="2331720"/>
            <a:ext cx="64008" cy="3383280"/>
          </a:xfrm>
          <a:prstGeom prst="rect">
            <a:avLst/>
          </a:prstGeom>
          <a:solidFill>
            <a:srgbClr val="D97706"/>
          </a:solidFill>
          <a:ln w="12700">
            <a:solidFill>
              <a:srgbClr val="D97706"/>
            </a:solidFill>
            <a:prstDash val="solid"/>
          </a:ln>
        </p:spPr>
      </p:sp>
      <p:sp>
        <p:nvSpPr>
          <p:cNvPr id="10" name="Text 8"/>
          <p:cNvSpPr txBox="1"/>
          <p:nvPr/>
        </p:nvSpPr>
        <p:spPr>
          <a:xfrm>
            <a:off x="4572000" y="2286000"/>
            <a:ext cx="3108960" cy="457200"/>
          </a:xfrm>
          <a:prstGeom prst="rect">
            <a:avLst/>
          </a:prstGeom>
          <a:noFill/>
          <a:ln/>
        </p:spPr>
        <p:txBody>
          <a:bodyPr wrap="square" lIns="0" tIns="0" rIns="0" bIns="0" rtlCol="0" anchor="t"/>
          <a:lstStyle/>
          <a:p>
            <a:pPr indent="0" marL="0">
              <a:buNone/>
            </a:pPr>
            <a:r>
              <a:rPr lang="en-US" sz="1800" b="1" dirty="0">
                <a:solidFill>
                  <a:srgbClr val="D97706"/>
                </a:solidFill>
                <a:latin typeface="Georgia" pitchFamily="34" charset="0"/>
                <a:ea typeface="Georgia" pitchFamily="34" charset="-122"/>
                <a:cs typeface="Georgia" pitchFamily="34" charset="-120"/>
              </a:rPr>
              <a:t>6 to 12 months</a:t>
            </a:r>
            <a:endParaRPr lang="en-US" sz="1800" dirty="0"/>
          </a:p>
        </p:txBody>
      </p:sp>
      <p:sp>
        <p:nvSpPr>
          <p:cNvPr id="11" name="Text 9"/>
          <p:cNvSpPr txBox="1"/>
          <p:nvPr/>
        </p:nvSpPr>
        <p:spPr>
          <a:xfrm>
            <a:off x="4572000" y="2788920"/>
            <a:ext cx="310896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Retrospective validation on authorised clinical data</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Clinician usability study with diabetologists</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Remote-monitoring pilot for primary centres</a:t>
            </a:r>
            <a:endParaRPr lang="en-US" sz="1500" dirty="0"/>
          </a:p>
        </p:txBody>
      </p:sp>
      <p:sp>
        <p:nvSpPr>
          <p:cNvPr id="12" name="road2 card"/>
          <p:cNvSpPr/>
          <p:nvPr/>
        </p:nvSpPr>
        <p:spPr>
          <a:xfrm>
            <a:off x="8046720" y="2103120"/>
            <a:ext cx="3566160" cy="3840480"/>
          </a:xfrm>
          <a:prstGeom prst="roundRect">
            <a:avLst>
              <a:gd name="adj" fmla="val 3077"/>
            </a:avLst>
          </a:prstGeom>
          <a:solidFill>
            <a:srgbClr val="F2F5FA"/>
          </a:solidFill>
          <a:ln w="12700">
            <a:solidFill>
              <a:srgbClr val="D8E0E8"/>
            </a:solidFill>
            <a:prstDash val="solid"/>
          </a:ln>
        </p:spPr>
      </p:sp>
      <p:sp>
        <p:nvSpPr>
          <p:cNvPr id="13" name="road2 accent"/>
          <p:cNvSpPr/>
          <p:nvPr/>
        </p:nvSpPr>
        <p:spPr>
          <a:xfrm>
            <a:off x="8046720" y="2331720"/>
            <a:ext cx="64008" cy="3383280"/>
          </a:xfrm>
          <a:prstGeom prst="rect">
            <a:avLst/>
          </a:prstGeom>
          <a:solidFill>
            <a:srgbClr val="DC2626"/>
          </a:solidFill>
          <a:ln w="12700">
            <a:solidFill>
              <a:srgbClr val="DC2626"/>
            </a:solidFill>
            <a:prstDash val="solid"/>
          </a:ln>
        </p:spPr>
      </p:sp>
      <p:sp>
        <p:nvSpPr>
          <p:cNvPr id="14" name="Text 12"/>
          <p:cNvSpPr txBox="1"/>
          <p:nvPr/>
        </p:nvSpPr>
        <p:spPr>
          <a:xfrm>
            <a:off x="8321040" y="2286000"/>
            <a:ext cx="3108960" cy="457200"/>
          </a:xfrm>
          <a:prstGeom prst="rect">
            <a:avLst/>
          </a:prstGeom>
          <a:noFill/>
          <a:ln/>
        </p:spPr>
        <p:txBody>
          <a:bodyPr wrap="square" lIns="0" tIns="0" rIns="0" bIns="0" rtlCol="0" anchor="t"/>
          <a:lstStyle/>
          <a:p>
            <a:pPr indent="0" marL="0">
              <a:buNone/>
            </a:pPr>
            <a:r>
              <a:rPr lang="en-US" sz="1800" b="1" dirty="0">
                <a:solidFill>
                  <a:srgbClr val="DC2626"/>
                </a:solidFill>
                <a:latin typeface="Georgia" pitchFamily="34" charset="0"/>
                <a:ea typeface="Georgia" pitchFamily="34" charset="-122"/>
                <a:cs typeface="Georgia" pitchFamily="34" charset="-120"/>
              </a:rPr>
              <a:t>Before any patient use</a:t>
            </a:r>
            <a:endParaRPr lang="en-US" sz="1800" dirty="0"/>
          </a:p>
        </p:txBody>
      </p:sp>
      <p:sp>
        <p:nvSpPr>
          <p:cNvPr id="15" name="Text 13"/>
          <p:cNvSpPr txBox="1"/>
          <p:nvPr/>
        </p:nvSpPr>
        <p:spPr>
          <a:xfrm>
            <a:off x="8321040" y="2788920"/>
            <a:ext cx="310896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Regulatory review as software as a medical device</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Security and consent audit</a:t>
            </a:r>
            <a:endParaRPr lang="en-US" sz="1500" dirty="0"/>
          </a:p>
          <a:p>
            <a:pPr marL="342900" indent="-342900">
              <a:spcAft>
                <a:spcPts val="600"/>
              </a:spcAft>
              <a:buSzPct val="100000"/>
              <a:buChar char="•"/>
            </a:pPr>
            <a:r>
              <a:rPr lang="en-US" sz="1500" dirty="0">
                <a:solidFill>
                  <a:srgbClr val="0F1B2D"/>
                </a:solidFill>
                <a:latin typeface="Calibri" pitchFamily="34" charset="0"/>
                <a:ea typeface="Calibri" pitchFamily="34" charset="-122"/>
                <a:cs typeface="Calibri" pitchFamily="34" charset="-120"/>
              </a:rPr>
              <a:t>Prospective clinical evaluation</a:t>
            </a:r>
            <a:endParaRPr lang="en-US" sz="1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1280160"/>
            <a:ext cx="10515600" cy="1097280"/>
          </a:xfrm>
          <a:prstGeom prst="rect">
            <a:avLst/>
          </a:prstGeom>
          <a:noFill/>
          <a:ln/>
        </p:spPr>
        <p:txBody>
          <a:bodyPr wrap="square" lIns="0" tIns="0" rIns="0" bIns="0" rtlCol="0" anchor="t"/>
          <a:lstStyle/>
          <a:p>
            <a:pPr indent="0" marL="0">
              <a:buNone/>
            </a:pPr>
            <a:r>
              <a:rPr lang="en-US" sz="6000" b="1" dirty="0">
                <a:solidFill>
                  <a:srgbClr val="FFFFFF"/>
                </a:solidFill>
                <a:latin typeface="Georgia" pitchFamily="34" charset="0"/>
                <a:ea typeface="Georgia" pitchFamily="34" charset="-122"/>
                <a:cs typeface="Georgia" pitchFamily="34" charset="-120"/>
              </a:rPr>
              <a:t>Thank you</a:t>
            </a:r>
            <a:endParaRPr lang="en-US" sz="6000" dirty="0"/>
          </a:p>
        </p:txBody>
      </p:sp>
      <p:sp>
        <p:nvSpPr>
          <p:cNvPr id="3" name="Text 1"/>
          <p:cNvSpPr txBox="1"/>
          <p:nvPr/>
        </p:nvSpPr>
        <p:spPr>
          <a:xfrm>
            <a:off x="731520" y="2560320"/>
            <a:ext cx="10515600" cy="548640"/>
          </a:xfrm>
          <a:prstGeom prst="rect">
            <a:avLst/>
          </a:prstGeom>
          <a:noFill/>
          <a:ln/>
        </p:spPr>
        <p:txBody>
          <a:bodyPr wrap="square" lIns="0" tIns="0" rIns="0" bIns="0" rtlCol="0" anchor="t"/>
          <a:lstStyle/>
          <a:p>
            <a:pPr indent="0" marL="0">
              <a:buNone/>
            </a:pPr>
            <a:r>
              <a:rPr lang="en-US" sz="2400" dirty="0">
                <a:solidFill>
                  <a:srgbClr val="DCE7F3"/>
                </a:solidFill>
                <a:latin typeface="Calibri" pitchFamily="34" charset="0"/>
                <a:ea typeface="Calibri" pitchFamily="34" charset="-122"/>
                <a:cs typeface="Calibri" pitchFamily="34" charset="-120"/>
              </a:rPr>
              <a:t>GlucoTwin AI: predict, explain, and let the doctor decide.</a:t>
            </a:r>
            <a:endParaRPr lang="en-US" sz="2400" dirty="0"/>
          </a:p>
        </p:txBody>
      </p:sp>
      <p:sp>
        <p:nvSpPr>
          <p:cNvPr id="4" name="Text 2"/>
          <p:cNvSpPr txBox="1"/>
          <p:nvPr/>
        </p:nvSpPr>
        <p:spPr>
          <a:xfrm>
            <a:off x="731520" y="3657600"/>
            <a:ext cx="10515600" cy="16459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Code, README, architecture and results: github.com/AnnuAnshu26/Powerpuff-IGDTUW</a:t>
            </a:r>
            <a:endParaRPr lang="en-US" sz="1800" dirty="0"/>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Open-source licence: MIT</a:t>
            </a:r>
            <a:endParaRPr lang="en-US" sz="1800" dirty="0"/>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Team Powerpuff Girls: Anushka Aggarwal, Anshu Yadav, Aarti  |  IGDTUW</a:t>
            </a:r>
            <a:endParaRPr lang="en-US" sz="1800" dirty="0"/>
          </a:p>
        </p:txBody>
      </p:sp>
    </p:spTree>
  </p:cSld>
  <p:clrMapOvr>
    <a:masterClrMapping/>
  </p:clrMapOvr>
</p:sld>
</file>

<file path=ppt/theme/theme1.xml><?xml version="1.0" encoding="utf-8"?>
<a:theme xmlns:a="http://schemas.openxmlformats.org/drawingml/2006/main" name="GlucoTwin">
  <a:themeElements>
    <a:clrScheme name="GlucoTwin">
      <a:dk1>
        <a:srgbClr val="0F1B2D"/>
      </a:dk1>
      <a:lt1>
        <a:srgbClr val="FFFFFF"/>
      </a:lt1>
      <a:dk2>
        <a:srgbClr val="56677A"/>
      </a:dk2>
      <a:lt2>
        <a:srgbClr val="F2F5FA"/>
      </a:lt2>
      <a:accent1>
        <a:srgbClr val="0D9488"/>
      </a:accent1>
      <a:accent2>
        <a:srgbClr val="2563EB"/>
      </a:accent2>
      <a:accent3>
        <a:srgbClr val="D97706"/>
      </a:accent3>
      <a:accent4>
        <a:srgbClr val="DC2626"/>
      </a:accent4>
      <a:accent5>
        <a:srgbClr val="16915C"/>
      </a:accent5>
      <a:accent6>
        <a:srgbClr val="7C3AED"/>
      </a:accent6>
      <a:hlink>
        <a:srgbClr val="2563EB"/>
      </a:hlink>
      <a:folHlink>
        <a:srgbClr val="7C3AED"/>
      </a:folHlink>
    </a:clrScheme>
    <a:fontScheme name="GlucoTw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AI - Happiest Health Summit 2026 Phase 1</dc:title>
  <dc:subject>PptxGenJS Presentation</dc:subject>
  <dc:creator>Team Powerpuff Girls</dc:creator>
  <cp:lastModifiedBy>Team Powerpuff Girls</cp:lastModifiedBy>
  <cp:revision>1</cp:revision>
  <dcterms:created xsi:type="dcterms:W3CDTF">2026-10-23T23:20:48Z</dcterms:created>
  <dcterms:modified xsi:type="dcterms:W3CDTF">2026-10-23T23:20:48Z</dcterms:modified>
</cp:coreProperties>
</file>